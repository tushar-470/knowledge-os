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78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2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19" autoAdjust="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3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A0041-7A33-49CE-BDA0-D9CFE147EEC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C14669-50F5-4E62-84CA-B6D7C92547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557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C14669-50F5-4E62-84CA-B6D7C925478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943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blipFill dpi="0" rotWithShape="1">
            <a:blip r:embed="rId2">
              <a:alphaModFix amt="11000"/>
            </a:blip>
            <a:srcRect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3989148" y="1122981"/>
            <a:ext cx="4213398" cy="344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1560"/>
              </a:spcAft>
            </a:pPr>
            <a:r>
              <a:rPr b="0" dirty="0">
                <a:solidFill>
                  <a:srgbClr val="D4AF37"/>
                </a:solidFill>
                <a:latin typeface="Cinzel"/>
              </a:rPr>
              <a:t>MPH 201T – MOLECULAR PHARMACEUTICS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71292" y="1550778"/>
            <a:ext cx="7049109" cy="19276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5850"/>
              </a:lnSpc>
              <a:spcBef>
                <a:spcPts val="0"/>
              </a:spcBef>
              <a:spcAft>
                <a:spcPts val="2080"/>
              </a:spcAft>
            </a:pPr>
            <a:r>
              <a:rPr sz="6600" b="1" dirty="0">
                <a:solidFill>
                  <a:srgbClr val="1E293B"/>
                </a:solidFill>
                <a:latin typeface="Playfair Display"/>
              </a:rPr>
              <a:t> TARGETED DRUG</a:t>
            </a:r>
            <a:r>
              <a:rPr sz="6600" dirty="0"/>
              <a:t>
</a:t>
            </a:r>
            <a:r>
              <a:rPr sz="6600" b="1" dirty="0">
                <a:solidFill>
                  <a:srgbClr val="1E293B"/>
                </a:solidFill>
                <a:latin typeface="Playfair Display"/>
              </a:rPr>
              <a:t>DELIVERY SYSTEMS </a:t>
            </a:r>
          </a:p>
        </p:txBody>
      </p:sp>
      <p:sp>
        <p:nvSpPr>
          <p:cNvPr id="5" name="Rectangle 4"/>
          <p:cNvSpPr/>
          <p:nvPr/>
        </p:nvSpPr>
        <p:spPr>
          <a:xfrm>
            <a:off x="5638659" y="3676649"/>
            <a:ext cx="914377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7542" y="4149057"/>
            <a:ext cx="10096610" cy="4267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3120"/>
              </a:spcAft>
            </a:pPr>
            <a:r>
              <a:rPr sz="2800" b="0" dirty="0">
                <a:solidFill>
                  <a:srgbClr val="4B5563"/>
                </a:solidFill>
                <a:latin typeface="Lora"/>
              </a:rPr>
              <a:t>Concepts, Events and Biological Processes Involved in Drug Targeting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71112" y="5120082"/>
            <a:ext cx="3449469" cy="3516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6B7280"/>
                </a:solidFill>
                <a:latin typeface="Crimson Text"/>
              </a:rPr>
              <a:t>Presented by </a:t>
            </a:r>
            <a:r>
              <a:rPr sz="2000" b="1" dirty="0">
                <a:solidFill>
                  <a:srgbClr val="1E293B"/>
                </a:solidFill>
                <a:latin typeface="Crimson Text"/>
              </a:rPr>
              <a:t>Tushar Mathapati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3063" y="5468612"/>
            <a:ext cx="2845586" cy="264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520"/>
              </a:spcBef>
              <a:spcAft>
                <a:spcPts val="0"/>
              </a:spcAft>
            </a:pPr>
            <a:r>
              <a:rPr lang="en-US" sz="837" b="0" dirty="0">
                <a:solidFill>
                  <a:srgbClr val="6B7280"/>
                </a:solidFill>
                <a:latin typeface="Crimson Text"/>
              </a:rPr>
              <a:t>Dr. Y. </a:t>
            </a:r>
            <a:r>
              <a:rPr lang="en-US" sz="837" dirty="0">
                <a:solidFill>
                  <a:srgbClr val="6B7280"/>
                </a:solidFill>
                <a:latin typeface="Crimson Text"/>
              </a:rPr>
              <a:t>Patil Pratishthan</a:t>
            </a:r>
            <a:r>
              <a:rPr lang="en-US" sz="800" dirty="0"/>
              <a:t>’</a:t>
            </a:r>
            <a:r>
              <a:rPr lang="en-US" sz="837" dirty="0">
                <a:solidFill>
                  <a:srgbClr val="6B7280"/>
                </a:solidFill>
                <a:latin typeface="Crimson Text"/>
              </a:rPr>
              <a:t>s D</a:t>
            </a:r>
            <a:r>
              <a:rPr lang="en-US" sz="837" b="0" dirty="0">
                <a:solidFill>
                  <a:srgbClr val="6B7280"/>
                </a:solidFill>
                <a:latin typeface="Crimson Text"/>
              </a:rPr>
              <a:t>r. D. Patil College Of </a:t>
            </a:r>
            <a:r>
              <a:rPr lang="en-US" sz="837" b="0" dirty="0" err="1">
                <a:solidFill>
                  <a:srgbClr val="6B7280"/>
                </a:solidFill>
                <a:latin typeface="Crimson Text"/>
              </a:rPr>
              <a:t>Pharmacy,Pune</a:t>
            </a:r>
            <a:endParaRPr sz="837" b="0" dirty="0">
              <a:solidFill>
                <a:srgbClr val="6B7280"/>
              </a:solidFill>
              <a:latin typeface="Crimson Tex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4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1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1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1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5" grpId="0" animBg="1"/>
      <p:bldP spid="6" grpId="0"/>
      <p:bldP spid="7" grpId="0"/>
      <p:bldP spid="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476" y="2562224"/>
            <a:ext cx="2962200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1560"/>
              </a:spcAft>
            </a:pPr>
            <a:r>
              <a:rPr sz="3588" b="0" dirty="0">
                <a:solidFill>
                  <a:srgbClr val="1E293B"/>
                </a:solidFill>
                <a:latin typeface="Playfair Display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476" y="3362324"/>
            <a:ext cx="2962200" cy="9334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dirty="0">
                <a:solidFill>
                  <a:srgbClr val="4B5563"/>
                </a:solidFill>
                <a:latin typeface="Crimson Text"/>
              </a:rPr>
              <a:t>A comprehensive exploration of targeted drug delivery systems and their biological foundations.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90975" y="1800225"/>
            <a:ext cx="533386" cy="7715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588" b="0" dirty="0">
                <a:solidFill>
                  <a:srgbClr val="D4AF37"/>
                </a:solidFill>
                <a:latin typeface="Cinze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0975" y="2552700"/>
            <a:ext cx="2971725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520"/>
              </a:spcBef>
              <a:spcAft>
                <a:spcPts val="520"/>
              </a:spcAft>
            </a:pPr>
            <a:r>
              <a:rPr sz="1794" b="1" dirty="0">
                <a:solidFill>
                  <a:srgbClr val="1E293B"/>
                </a:solidFill>
                <a:latin typeface="Cormorant Garamond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0975" y="2928108"/>
            <a:ext cx="3142207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B5563"/>
                </a:solidFill>
                <a:latin typeface="Crimson Text"/>
              </a:rPr>
              <a:t>Conventional drug therapy limitations.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67493" y="1800225"/>
            <a:ext cx="638159" cy="7715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588" b="0" dirty="0">
                <a:solidFill>
                  <a:srgbClr val="D4AF37"/>
                </a:solidFill>
                <a:latin typeface="Cinze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67493" y="2552700"/>
            <a:ext cx="2971725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520"/>
              </a:spcBef>
              <a:spcAft>
                <a:spcPts val="520"/>
              </a:spcAft>
            </a:pPr>
            <a:r>
              <a:rPr sz="1794" b="1" dirty="0">
                <a:solidFill>
                  <a:srgbClr val="1E293B"/>
                </a:solidFill>
                <a:latin typeface="Cormorant Garamond"/>
              </a:rPr>
              <a:t>Core Concepts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67493" y="2928108"/>
            <a:ext cx="3060838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B5563"/>
                </a:solidFill>
                <a:latin typeface="Crimson Text"/>
              </a:rPr>
              <a:t>Therapeutic index &amp; targeting orders.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0975" y="3552825"/>
            <a:ext cx="619109" cy="7715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588" b="0" dirty="0">
                <a:solidFill>
                  <a:srgbClr val="D4AF37"/>
                </a:solidFill>
                <a:latin typeface="Cinze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0975" y="4305300"/>
            <a:ext cx="2971725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520"/>
              </a:spcBef>
              <a:spcAft>
                <a:spcPts val="520"/>
              </a:spcAft>
            </a:pPr>
            <a:r>
              <a:rPr sz="1794" b="1" dirty="0">
                <a:solidFill>
                  <a:srgbClr val="1E293B"/>
                </a:solidFill>
                <a:latin typeface="Cormorant Garamond"/>
              </a:rPr>
              <a:t>Biological Events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0975" y="4680707"/>
            <a:ext cx="2576603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B5563"/>
                </a:solidFill>
                <a:latin typeface="Crimson Text"/>
              </a:rPr>
              <a:t>Sequential targeting processes.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7493" y="3552825"/>
            <a:ext cx="676258" cy="7715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588" b="0" dirty="0">
                <a:solidFill>
                  <a:srgbClr val="D4AF37"/>
                </a:solidFill>
                <a:latin typeface="Cinzel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493" y="4305300"/>
            <a:ext cx="2971725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520"/>
              </a:spcBef>
              <a:spcAft>
                <a:spcPts val="520"/>
              </a:spcAft>
            </a:pPr>
            <a:r>
              <a:rPr sz="1794" b="1" dirty="0">
                <a:solidFill>
                  <a:srgbClr val="1E293B"/>
                </a:solidFill>
                <a:latin typeface="Cormorant Garamond"/>
              </a:rPr>
              <a:t>Clinical Applications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7493" y="4680707"/>
            <a:ext cx="3090205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B5563"/>
                </a:solidFill>
                <a:latin typeface="Crimson Text"/>
              </a:rPr>
              <a:t>Current therapies &amp; future directions.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32038F-9C80-2AAE-6734-B4CEB982A4E7}"/>
              </a:ext>
            </a:extLst>
          </p:cNvPr>
          <p:cNvSpPr/>
          <p:nvPr/>
        </p:nvSpPr>
        <p:spPr>
          <a:xfrm>
            <a:off x="1081088" y="3221355"/>
            <a:ext cx="1684337" cy="45719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294922" y="510139"/>
            <a:ext cx="6095847" cy="6858000"/>
          </a:xfrm>
          <a:prstGeom prst="rect">
            <a:avLst/>
          </a:prstGeom>
          <a:solidFill>
            <a:srgbClr val="1E293B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6858000"/>
          </a:xfrm>
          <a:prstGeom prst="rect">
            <a:avLst/>
          </a:prstGeom>
          <a:solidFill>
            <a:srgbClr val="FFF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7391215" y="1080351"/>
            <a:ext cx="1627818" cy="2967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rgbClr val="D4AF37"/>
                </a:solidFill>
                <a:latin typeface="Cinzel"/>
              </a:rPr>
              <a:t>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7828" y="1552574"/>
            <a:ext cx="4571885" cy="1714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2080"/>
              </a:spcAft>
            </a:pPr>
            <a:r>
              <a:rPr sz="2870" b="1" dirty="0">
                <a:solidFill>
                  <a:srgbClr val="1E293B"/>
                </a:solidFill>
                <a:latin typeface="Cormorant Garamond"/>
              </a:rPr>
              <a:t> The Fundamental Problem of </a:t>
            </a:r>
            <a:r>
              <a:rPr sz="1104" dirty="0"/>
              <a:t>
</a:t>
            </a:r>
            <a:r>
              <a:rPr sz="2870" b="1" dirty="0">
                <a:solidFill>
                  <a:srgbClr val="D4AF37"/>
                </a:solidFill>
                <a:latin typeface="Cormorant Garamond"/>
              </a:rPr>
              <a:t>Conventional Therapy</a:t>
            </a:r>
            <a:r>
              <a:rPr sz="2870" b="1" dirty="0">
                <a:solidFill>
                  <a:srgbClr val="1E293B"/>
                </a:solidFill>
                <a:latin typeface="Cormorant Garamond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7828" y="3605262"/>
            <a:ext cx="4571885" cy="11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2080"/>
              </a:spcAft>
            </a:pPr>
            <a:r>
              <a:rPr sz="1500" b="0" dirty="0">
                <a:solidFill>
                  <a:srgbClr val="4B5563"/>
                </a:solidFill>
                <a:latin typeface="Crimson Text"/>
              </a:rPr>
              <a:t>Conventional pharmacotherapy creates a paradox: therapeutic doses at target sites produce supratherapeutic concentrations at non-target tissues, leading to toxicity and reduced therapeutic indices.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7828" y="5099599"/>
            <a:ext cx="1657308" cy="41165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dirty="0">
                <a:solidFill>
                  <a:srgbClr val="1E293B"/>
                </a:solidFill>
                <a:latin typeface="Cinzel"/>
              </a:rPr>
              <a:t>TD50/ED50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7828" y="5485966"/>
            <a:ext cx="1551515" cy="28661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Lora"/>
              </a:rPr>
              <a:t>Therapeutic 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2325" y="5099599"/>
            <a:ext cx="578941" cy="41165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E293B"/>
                </a:solidFill>
                <a:latin typeface="Cinzel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2325" y="5485966"/>
            <a:ext cx="1590692" cy="28661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26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Lora"/>
              </a:rPr>
              <a:t>Systemic Exposure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44F0C1-F5E1-38DA-32FA-B89E6147D208}"/>
              </a:ext>
            </a:extLst>
          </p:cNvPr>
          <p:cNvSpPr/>
          <p:nvPr/>
        </p:nvSpPr>
        <p:spPr>
          <a:xfrm>
            <a:off x="6529698" y="1187657"/>
            <a:ext cx="7619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476" y="761999"/>
            <a:ext cx="5972025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70" b="0">
                <a:solidFill>
                  <a:srgbClr val="1E293B"/>
                </a:solidFill>
                <a:latin typeface="Cormorant Garamond"/>
              </a:rPr>
              <a:t>Core Concepts of Drug Targeting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952476" y="1371600"/>
            <a:ext cx="7619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89602" y="1105534"/>
            <a:ext cx="5149616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4B5563"/>
                </a:solidFill>
                <a:latin typeface="Crimson Text"/>
              </a:rPr>
              <a:t>Precision delivery to maximize efficacy and minimize toxicity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476" y="1866899"/>
            <a:ext cx="4990975" cy="400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 Same Side Corner Rectangle 5"/>
          <p:cNvSpPr/>
          <p:nvPr/>
        </p:nvSpPr>
        <p:spPr>
          <a:xfrm rot="16200000">
            <a:off x="-981734" y="3801109"/>
            <a:ext cx="40005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295367" y="2209022"/>
            <a:ext cx="285742" cy="2682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5407" y="2190749"/>
            <a:ext cx="2019249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 dirty="0">
                <a:solidFill>
                  <a:srgbClr val="1E293B"/>
                </a:solidFill>
                <a:latin typeface="Lora"/>
              </a:rPr>
              <a:t>Definition &amp;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5367" y="2743200"/>
            <a:ext cx="4343291" cy="838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1560"/>
              </a:spcAft>
            </a:pPr>
            <a:r>
              <a:rPr sz="1400" b="0" dirty="0">
                <a:solidFill>
                  <a:srgbClr val="4B5563"/>
                </a:solidFill>
                <a:latin typeface="Crimson Text"/>
              </a:rPr>
              <a:t> Ability to direct therapeutic agent </a:t>
            </a:r>
            <a:r>
              <a:rPr sz="1400" b="1" dirty="0">
                <a:solidFill>
                  <a:srgbClr val="D4AF37"/>
                </a:solidFill>
                <a:latin typeface="Crimson Text"/>
              </a:rPr>
              <a:t>preferentially and specifically</a:t>
            </a:r>
            <a:r>
              <a:rPr sz="1400" b="0" dirty="0">
                <a:solidFill>
                  <a:srgbClr val="4B5563"/>
                </a:solidFill>
                <a:latin typeface="Crimson Text"/>
              </a:rPr>
              <a:t> to desired anatomical site, organ, tissue, cell type, or subcellular compartment.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367" y="5147133"/>
            <a:ext cx="4343291" cy="44993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Lora"/>
              </a:rPr>
              <a:t>"Ensuring pharmacologically active concentrations at target while minimizing non-target exposure"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8243" y="1866899"/>
            <a:ext cx="4990975" cy="4000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53036" y="2232348"/>
            <a:ext cx="285742" cy="22160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53076" y="2190749"/>
            <a:ext cx="1990675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 dirty="0">
                <a:solidFill>
                  <a:srgbClr val="FFFFFF"/>
                </a:solidFill>
                <a:latin typeface="Lora"/>
              </a:rPr>
              <a:t>Therapeutic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53036" y="2743200"/>
            <a:ext cx="4381390" cy="1428750"/>
          </a:xfrm>
          <a:prstGeom prst="roundRect">
            <a:avLst>
              <a:gd name="adj" fmla="val 10666"/>
            </a:avLst>
          </a:prstGeom>
          <a:solidFill>
            <a:srgbClr val="1E293B">
              <a:alpha val="50000"/>
            </a:srgbClr>
          </a:solidFill>
          <a:ln w="825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5987" y="2943225"/>
            <a:ext cx="2495487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152" b="0">
                <a:solidFill>
                  <a:srgbClr val="D4AF37"/>
                </a:solidFill>
                <a:latin typeface="Cinzel"/>
              </a:rPr>
              <a:t>TI = TD</a:t>
            </a:r>
            <a:r>
              <a:rPr sz="1614" b="0">
                <a:solidFill>
                  <a:srgbClr val="D4AF37"/>
                </a:solidFill>
                <a:latin typeface="Cinzel"/>
              </a:rPr>
              <a:t>50</a:t>
            </a:r>
            <a:r>
              <a:rPr sz="2152" b="0">
                <a:solidFill>
                  <a:srgbClr val="D4AF37"/>
                </a:solidFill>
                <a:latin typeface="Cinzel"/>
              </a:rPr>
              <a:t> / ED</a:t>
            </a:r>
            <a:r>
              <a:rPr sz="1614" b="0">
                <a:solidFill>
                  <a:srgbClr val="D4AF37"/>
                </a:solidFill>
                <a:latin typeface="Cinzel"/>
              </a:rPr>
              <a:t>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6938" y="3484120"/>
            <a:ext cx="504812" cy="32791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D4AF37"/>
                </a:solidFill>
                <a:latin typeface="Crimson Text"/>
              </a:rPr>
              <a:t>TD50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3290" y="3730442"/>
            <a:ext cx="912109" cy="25436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1D5DB"/>
                </a:solidFill>
                <a:latin typeface="Crimson Text"/>
              </a:rPr>
              <a:t>Toxic Dose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62840" y="3482420"/>
            <a:ext cx="647683" cy="3313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4AF37"/>
                </a:solidFill>
                <a:latin typeface="Crimson Text"/>
              </a:rPr>
              <a:t>ED50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636" y="3730442"/>
            <a:ext cx="1176092" cy="25436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1D5DB"/>
                </a:solidFill>
                <a:latin typeface="Crimson Text"/>
              </a:rPr>
              <a:t>Effective Dose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36" y="5107337"/>
            <a:ext cx="4381390" cy="47237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1D5DB"/>
                </a:solidFill>
                <a:latin typeface="Crimson Text"/>
              </a:rPr>
              <a:t> Targeted delivery </a:t>
            </a:r>
            <a:r>
              <a:rPr sz="1400" b="1">
                <a:solidFill>
                  <a:srgbClr val="D4AF37"/>
                </a:solidFill>
                <a:latin typeface="Crimson Text"/>
              </a:rPr>
              <a:t>widens TI</a:t>
            </a:r>
            <a:r>
              <a:rPr sz="1400" b="0">
                <a:solidFill>
                  <a:srgbClr val="D1D5DB"/>
                </a:solidFill>
                <a:latin typeface="Crimson Text"/>
              </a:rPr>
              <a:t> by creating concentration gradients: high at target site, low elsewhere. 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476" y="761999"/>
            <a:ext cx="4552836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70" b="0">
                <a:solidFill>
                  <a:srgbClr val="1E293B"/>
                </a:solidFill>
                <a:latin typeface="Cormorant Garamond"/>
              </a:rPr>
              <a:t>Orders of Drug Targeting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952476" y="1371600"/>
            <a:ext cx="7619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33019" y="1110695"/>
            <a:ext cx="3206199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4B5563"/>
                </a:solidFill>
                <a:latin typeface="Crimson Text"/>
              </a:rPr>
              <a:t>Anatomical hierarchy of precision delivery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476" y="1866899"/>
            <a:ext cx="3228894" cy="4000500"/>
          </a:xfrm>
          <a:prstGeom prst="rect">
            <a:avLst/>
          </a:prstGeom>
          <a:solidFill>
            <a:srgbClr val="FFFFFF"/>
          </a:solidFill>
          <a:ln w="3302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257268" y="2422848"/>
            <a:ext cx="285742" cy="2216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57308" y="2190749"/>
            <a:ext cx="400039" cy="3809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0">
                <a:solidFill>
                  <a:srgbClr val="1E293B"/>
                </a:solidFill>
                <a:latin typeface="Cinzel"/>
              </a:rPr>
              <a:t>1st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7308" y="2552700"/>
            <a:ext cx="1209644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First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7268" y="3042267"/>
            <a:ext cx="2064604" cy="344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D4AF37"/>
                </a:solidFill>
                <a:latin typeface="Crimson Text"/>
              </a:rPr>
              <a:t>Organ / Tissue Level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268" y="3373995"/>
            <a:ext cx="2619309" cy="75770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156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Passive accumulation via fenestrated sinusoids; size-based retention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7268" y="5078091"/>
            <a:ext cx="814518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Lora"/>
              </a:rPr>
              <a:t>Example: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7268" y="5290308"/>
            <a:ext cx="2208682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93B"/>
                </a:solidFill>
                <a:latin typeface="Crimson Text"/>
              </a:rPr>
              <a:t>Liver-targeted drug delivery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6162" y="1866899"/>
            <a:ext cx="3228894" cy="4000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90955" y="2357048"/>
            <a:ext cx="285742" cy="27700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90995" y="2152650"/>
            <a:ext cx="600059" cy="3809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0">
                <a:solidFill>
                  <a:srgbClr val="D4AF37"/>
                </a:solidFill>
                <a:latin typeface="Cinzel"/>
              </a:rPr>
              <a:t>2nd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0995" y="2514600"/>
            <a:ext cx="1495387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Lora"/>
              </a:rPr>
              <a:t>Second Order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0955" y="3004168"/>
            <a:ext cx="1783565" cy="344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D4AF37"/>
                </a:solidFill>
                <a:latin typeface="Crimson Text"/>
              </a:rPr>
              <a:t>Specific Cell Type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0955" y="3335896"/>
            <a:ext cx="2619309" cy="75770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1560"/>
              </a:spcAft>
            </a:pPr>
            <a:r>
              <a:rPr sz="1400" b="0">
                <a:solidFill>
                  <a:srgbClr val="D1D5DB"/>
                </a:solidFill>
                <a:latin typeface="Crimson Text"/>
              </a:rPr>
              <a:t>Receptor-ligand interaction; asialoglycoprotein receptor on hepatocytes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0955" y="5078091"/>
            <a:ext cx="814518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CA3AF"/>
                </a:solidFill>
                <a:latin typeface="Lora"/>
              </a:rPr>
              <a:t>Example: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0955" y="5290308"/>
            <a:ext cx="2843407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D4AF37"/>
                </a:solidFill>
                <a:latin typeface="Crimson Text"/>
              </a:rPr>
              <a:t>Hepatocyte vs. Kupffer cell targeting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10324" y="1866899"/>
            <a:ext cx="3228894" cy="4000500"/>
          </a:xfrm>
          <a:prstGeom prst="rect">
            <a:avLst/>
          </a:prstGeom>
          <a:solidFill>
            <a:srgbClr val="FFFFFF"/>
          </a:solidFill>
          <a:ln w="3302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15117" y="2411185"/>
            <a:ext cx="285742" cy="244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5157" y="2190749"/>
            <a:ext cx="542911" cy="3809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0">
                <a:solidFill>
                  <a:srgbClr val="D4AF37"/>
                </a:solidFill>
                <a:latin typeface="Cinzel"/>
              </a:rPr>
              <a:t>3rd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15157" y="2552700"/>
            <a:ext cx="1304892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Third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5117" y="3042267"/>
            <a:ext cx="2175275" cy="344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D4AF37"/>
                </a:solidFill>
                <a:latin typeface="Crimson Text"/>
              </a:rPr>
              <a:t>Subcellular Organelle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5117" y="3373995"/>
            <a:ext cx="2619309" cy="75770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156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Signal peptide-mediated transport; pH-sensitive intracellular release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5117" y="4849491"/>
            <a:ext cx="814518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Lora"/>
              </a:rPr>
              <a:t>Example: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5117" y="5073416"/>
            <a:ext cx="2619309" cy="52116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E293B"/>
                </a:solidFill>
                <a:latin typeface="Crimson Text"/>
              </a:rPr>
              <a:t>Nuclear targeting, Mitochondrial delivery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476" y="636816"/>
            <a:ext cx="4895727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70" b="0">
                <a:solidFill>
                  <a:srgbClr val="1E293B"/>
                </a:solidFill>
                <a:latin typeface="Cormorant Garamond"/>
              </a:rPr>
              <a:t>Active vs. Passive Targeting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952476" y="1246415"/>
            <a:ext cx="7619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89050" y="968582"/>
            <a:ext cx="2950168" cy="36516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dirty="0">
                <a:solidFill>
                  <a:srgbClr val="4B5563"/>
                </a:solidFill>
                <a:latin typeface="Crimson Text"/>
              </a:rPr>
              <a:t>The Critical Distinction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476" y="1665516"/>
            <a:ext cx="4990975" cy="4943475"/>
          </a:xfrm>
          <a:prstGeom prst="rect">
            <a:avLst/>
          </a:prstGeom>
          <a:solidFill>
            <a:srgbClr val="FFFFFF"/>
          </a:solidFill>
          <a:ln w="3302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257268" y="2077812"/>
            <a:ext cx="285742" cy="2041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57308" y="2027465"/>
            <a:ext cx="1895427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Passive Targeting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7268" y="2544641"/>
            <a:ext cx="998928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4AF37"/>
                </a:solidFill>
                <a:latin typeface="Crimson Text"/>
              </a:rPr>
              <a:t>Mechanism: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7268" y="2778004"/>
            <a:ext cx="3786165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Exploits pathophysiological abnormalities (EPR effect)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268" y="3163767"/>
            <a:ext cx="907556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4AF37"/>
                </a:solidFill>
                <a:latin typeface="Crimson Text"/>
              </a:rPr>
              <a:t>Selectivity: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7268" y="3397129"/>
            <a:ext cx="1658531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Tissue-level selectivity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7268" y="3782892"/>
            <a:ext cx="667106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4AF37"/>
                </a:solidFill>
                <a:latin typeface="Crimson Text"/>
              </a:rPr>
              <a:t>Carrier: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7268" y="4016253"/>
            <a:ext cx="3490764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Size &amp; surface chemistry controlled nanoparticles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7268" y="4402017"/>
            <a:ext cx="1097480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4AF37"/>
                </a:solidFill>
                <a:latin typeface="Crimson Text"/>
              </a:rPr>
              <a:t>Drug Release: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7268" y="4635378"/>
            <a:ext cx="3424977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Passive diffusion or microenvironment-triggered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7268" y="5021141"/>
            <a:ext cx="899605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4AF37"/>
                </a:solidFill>
                <a:latin typeface="Crimson Text"/>
              </a:rPr>
              <a:t>Limitation: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268" y="5254504"/>
            <a:ext cx="4144853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Non-uniform EPR; heterogeneous tumors may not respond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7268" y="5802192"/>
            <a:ext cx="783099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4AF37"/>
                </a:solidFill>
                <a:latin typeface="Crimson Text"/>
              </a:rPr>
              <a:t>Example: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7268" y="6035553"/>
            <a:ext cx="2873415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Crimson Text"/>
              </a:rPr>
              <a:t>PEGylated liposomes (Doxil®) in tumors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8243" y="1665516"/>
            <a:ext cx="4990975" cy="494347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53036" y="2007638"/>
            <a:ext cx="285742" cy="26825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53076" y="1989365"/>
            <a:ext cx="1781130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Lora"/>
              </a:rPr>
              <a:t>Active Targeting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3036" y="2506542"/>
            <a:ext cx="998928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4AF37"/>
                </a:solidFill>
                <a:latin typeface="Crimson Text"/>
              </a:rPr>
              <a:t>Mechanism: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036" y="2739904"/>
            <a:ext cx="3241400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1D5DB"/>
                </a:solidFill>
                <a:latin typeface="Crimson Text"/>
              </a:rPr>
              <a:t>Ligand-receptor mediated preferential uptake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36" y="3125667"/>
            <a:ext cx="907556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4AF37"/>
                </a:solidFill>
                <a:latin typeface="Crimson Text"/>
              </a:rPr>
              <a:t>Selectivity: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036" y="3359028"/>
            <a:ext cx="2623026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1D5DB"/>
                </a:solidFill>
                <a:latin typeface="Crimson Text"/>
              </a:rPr>
              <a:t>Cell-level &amp; receptor-level selectivity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3036" y="3744791"/>
            <a:ext cx="667106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4AF37"/>
                </a:solidFill>
                <a:latin typeface="Crimson Text"/>
              </a:rPr>
              <a:t>Carrier: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3036" y="3978153"/>
            <a:ext cx="4198393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1D5DB"/>
                </a:solidFill>
                <a:latin typeface="Crimson Text"/>
              </a:rPr>
              <a:t>Ligand-conjugated nanoparticles (antibody, aptamer, folate)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3036" y="4363916"/>
            <a:ext cx="1097480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4AF37"/>
                </a:solidFill>
                <a:latin typeface="Crimson Text"/>
              </a:rPr>
              <a:t>Drug Release: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3036" y="4597279"/>
            <a:ext cx="3803734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1D5DB"/>
                </a:solidFill>
                <a:latin typeface="Crimson Text"/>
              </a:rPr>
              <a:t>Receptor-mediated endocytosis + intracellular release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3036" y="4983042"/>
            <a:ext cx="899605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4AF37"/>
                </a:solidFill>
                <a:latin typeface="Crimson Text"/>
              </a:rPr>
              <a:t>Limitation: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53036" y="5216404"/>
            <a:ext cx="4975786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1D5DB"/>
                </a:solidFill>
                <a:latin typeface="Crimson Text"/>
              </a:rPr>
              <a:t>Ligand immunogenicity; receptor saturation; manufacturing complexity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53036" y="5802192"/>
            <a:ext cx="783099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4AF37"/>
                </a:solidFill>
                <a:latin typeface="Crimson Text"/>
              </a:rPr>
              <a:t>Example: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3036" y="6035553"/>
            <a:ext cx="3924088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rimson Text"/>
              </a:rPr>
              <a:t>Transferrin-conjugated nanoparticles for brain delivery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95288" y="893413"/>
            <a:ext cx="3352716" cy="1714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2080"/>
              </a:spcAft>
            </a:pPr>
            <a:r>
              <a:rPr sz="3588" b="0" dirty="0">
                <a:solidFill>
                  <a:srgbClr val="FFFEF0"/>
                </a:solidFill>
                <a:latin typeface="Cormorant Garamond"/>
              </a:rPr>
              <a:t>Enhanced Permeability</a:t>
            </a:r>
            <a:r>
              <a:rPr sz="1104" dirty="0"/>
              <a:t>
</a:t>
            </a:r>
            <a:r>
              <a:rPr sz="3588" b="0" dirty="0">
                <a:solidFill>
                  <a:srgbClr val="D4AF37"/>
                </a:solidFill>
                <a:latin typeface="Cormorant Garamond"/>
              </a:rPr>
              <a:t>&amp; Retention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3027634"/>
            <a:ext cx="3352716" cy="116467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2080"/>
              </a:spcAft>
            </a:pPr>
            <a:r>
              <a:rPr sz="1300" b="0" dirty="0">
                <a:solidFill>
                  <a:srgbClr val="FFFEF0"/>
                </a:solidFill>
                <a:latin typeface="Crimson Text"/>
              </a:rPr>
              <a:t>The EPR effect, first described by Matsumura and Maeda in 1986, is the cornerstone biological phenomenon enabling passive tumor targeting.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4533900"/>
            <a:ext cx="3352716" cy="1362075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 Same Side Corner Rectangle 5"/>
          <p:cNvSpPr/>
          <p:nvPr/>
        </p:nvSpPr>
        <p:spPr>
          <a:xfrm rot="16200000">
            <a:off x="146983" y="5148897"/>
            <a:ext cx="13620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8674" y="4762500"/>
            <a:ext cx="2857428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520"/>
              </a:spcAft>
            </a:pPr>
            <a:r>
              <a:rPr sz="2870" b="0">
                <a:solidFill>
                  <a:srgbClr val="D4AF37"/>
                </a:solidFill>
                <a:latin typeface="Cinzel"/>
              </a:rPr>
              <a:t>10-50×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674" y="5269592"/>
            <a:ext cx="2857428" cy="42409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EF0"/>
                </a:solidFill>
                <a:latin typeface="Lora"/>
              </a:rPr>
              <a:t>Higher drug concentration in tumor vs. normal tissue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638659" y="1085850"/>
            <a:ext cx="380990" cy="95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72045" y="945939"/>
            <a:ext cx="1391215" cy="27982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AF37"/>
                </a:solidFill>
                <a:latin typeface="Cinzel"/>
              </a:rPr>
              <a:t>BIOLOGICAL BASIS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659" y="1333500"/>
            <a:ext cx="5791055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1">
                <a:solidFill>
                  <a:srgbClr val="1E293B"/>
                </a:solidFill>
                <a:latin typeface="Cormorant Garamond"/>
              </a:rPr>
              <a:t>Vascular Architecture Comparison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659" y="1981199"/>
            <a:ext cx="2781230" cy="2286000"/>
          </a:xfrm>
          <a:prstGeom prst="rect">
            <a:avLst/>
          </a:prstGeom>
          <a:solidFill>
            <a:srgbClr val="FFFFFF"/>
          </a:solidFill>
          <a:ln w="3302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867253" y="2284095"/>
            <a:ext cx="228594" cy="19430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045" y="2247899"/>
            <a:ext cx="130489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1E293B"/>
                </a:solidFill>
                <a:latin typeface="Lora"/>
              </a:rPr>
              <a:t>Normal Tissue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67253" y="2626963"/>
            <a:ext cx="2635145" cy="3086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• Tight endothelium (5–7 nm gaps)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67253" y="2931763"/>
            <a:ext cx="2422138" cy="3086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52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• Functional lymphatics present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7253" y="3236562"/>
            <a:ext cx="2074542" cy="3086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52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• Nanoparticles EXCLUDED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67253" y="3541363"/>
            <a:ext cx="2071144" cy="3086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52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• Rapid systemic clearance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48483" y="1981199"/>
            <a:ext cx="2781230" cy="2286000"/>
          </a:xfrm>
          <a:prstGeom prst="rect">
            <a:avLst/>
          </a:prstGeom>
          <a:solidFill>
            <a:srgbClr val="FFFFFF"/>
          </a:solidFill>
          <a:ln w="3302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77078" y="2284095"/>
            <a:ext cx="228594" cy="19430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181870" y="2247899"/>
            <a:ext cx="124774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1E293B"/>
                </a:solidFill>
                <a:latin typeface="Lora"/>
              </a:rPr>
              <a:t>Tumor Tissue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77078" y="2638671"/>
            <a:ext cx="2324041" cy="513859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• Leaky endothelium (100–800 nm gaps)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77078" y="3160363"/>
            <a:ext cx="2694392" cy="3086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52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• Absent/non-functional lymphatics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77078" y="3465162"/>
            <a:ext cx="2295500" cy="3086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52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• Nanoparticles EXTRAVASATE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77078" y="3769962"/>
            <a:ext cx="2186945" cy="3086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52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• ACCUMULATE &amp; RETAINED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38659" y="4572000"/>
            <a:ext cx="5791055" cy="1295399"/>
          </a:xfrm>
          <a:prstGeom prst="rect">
            <a:avLst/>
          </a:prstGeom>
          <a:solidFill>
            <a:srgbClr val="1E293B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 Same Side Corner Rectangle 26"/>
          <p:cNvSpPr/>
          <p:nvPr/>
        </p:nvSpPr>
        <p:spPr>
          <a:xfrm rot="16200000">
            <a:off x="5057000" y="5153659"/>
            <a:ext cx="12953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05352" y="4769995"/>
            <a:ext cx="1255408" cy="3279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780"/>
              </a:spcAft>
            </a:pPr>
            <a:r>
              <a:rPr sz="1300" b="1">
                <a:solidFill>
                  <a:srgbClr val="1E293B"/>
                </a:solidFill>
                <a:latin typeface="Lora"/>
              </a:rPr>
              <a:t>EPR Mechanism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5352" y="5153270"/>
            <a:ext cx="2571685" cy="51385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74151"/>
                </a:solidFill>
                <a:latin typeface="Crimson Text"/>
              </a:rPr>
              <a:t> </a:t>
            </a:r>
            <a:r>
              <a:rPr sz="1300" b="1">
                <a:solidFill>
                  <a:srgbClr val="D4AF37"/>
                </a:solidFill>
                <a:latin typeface="Crimson Text"/>
              </a:rPr>
              <a:t>PERMEABILITY:</a:t>
            </a:r>
            <a:r>
              <a:rPr sz="1300" b="0">
                <a:solidFill>
                  <a:srgbClr val="374151"/>
                </a:solidFill>
                <a:latin typeface="Crimson Text"/>
              </a:rPr>
              <a:t> Large gaps allow nanoparticle extravasation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29434" y="5153270"/>
            <a:ext cx="2571685" cy="51385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74151"/>
                </a:solidFill>
                <a:latin typeface="Crimson Text"/>
              </a:rPr>
              <a:t> </a:t>
            </a:r>
            <a:r>
              <a:rPr sz="1300" b="1">
                <a:solidFill>
                  <a:srgbClr val="D4AF37"/>
                </a:solidFill>
                <a:latin typeface="Crimson Text"/>
              </a:rPr>
              <a:t>RETENTION:</a:t>
            </a:r>
            <a:r>
              <a:rPr sz="1300" b="0">
                <a:solidFill>
                  <a:srgbClr val="374151"/>
                </a:solidFill>
                <a:latin typeface="Crimson Text"/>
              </a:rPr>
              <a:t> No lymphatic drainage → accumulation 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476" y="571500"/>
            <a:ext cx="5714857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70" b="0" dirty="0">
                <a:solidFill>
                  <a:srgbClr val="1E293B"/>
                </a:solidFill>
                <a:latin typeface="Cormorant Garamond"/>
              </a:rPr>
              <a:t>Factors Governing EPR Efficacy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952476" y="1181099"/>
            <a:ext cx="7619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92184" y="921894"/>
            <a:ext cx="3447034" cy="3279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Determinants of passive tumor targeting success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476" y="1523999"/>
            <a:ext cx="5029074" cy="133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 Same Side Corner Rectangle 5"/>
          <p:cNvSpPr/>
          <p:nvPr/>
        </p:nvSpPr>
        <p:spPr>
          <a:xfrm rot="16200000">
            <a:off x="351766" y="2124709"/>
            <a:ext cx="13335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19169" y="1752599"/>
            <a:ext cx="219069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0">
                <a:solidFill>
                  <a:srgbClr val="D4AF37"/>
                </a:solidFill>
                <a:latin typeface="Cinze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2536" y="1771650"/>
            <a:ext cx="272408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1E293B"/>
                </a:solidFill>
                <a:latin typeface="Lora"/>
              </a:rPr>
              <a:t>Tumor Type &amp; Vascularization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169" y="2143371"/>
            <a:ext cx="4533786" cy="51385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Highly vascularized tumors show stronger EPR effect. Dense stroma tumors exhibit compressed vasculature.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4" y="1523999"/>
            <a:ext cx="5029074" cy="133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 Same Side Corner Rectangle 10"/>
          <p:cNvSpPr/>
          <p:nvPr/>
        </p:nvSpPr>
        <p:spPr>
          <a:xfrm rot="16200000">
            <a:off x="5609434" y="2124709"/>
            <a:ext cx="13335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6838" y="1752599"/>
            <a:ext cx="257168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0">
                <a:solidFill>
                  <a:srgbClr val="D4AF37"/>
                </a:solidFill>
                <a:latin typeface="Cinze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8303" y="1771650"/>
            <a:ext cx="1028674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1E293B"/>
                </a:solidFill>
                <a:latin typeface="Lora"/>
              </a:rPr>
              <a:t>Tumor Size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6838" y="2143371"/>
            <a:ext cx="4533786" cy="51385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Larger tumors </a:t>
            </a:r>
            <a:r>
              <a:rPr sz="1300" b="1">
                <a:solidFill>
                  <a:srgbClr val="D4AF37"/>
                </a:solidFill>
                <a:latin typeface="Crimson Text"/>
              </a:rPr>
              <a:t>(&gt;1 cm³)</a:t>
            </a:r>
            <a:r>
              <a:rPr sz="1300" b="0">
                <a:solidFill>
                  <a:srgbClr val="4B5563"/>
                </a:solidFill>
                <a:latin typeface="Crimson Text"/>
              </a:rPr>
              <a:t> show more pronounced EPR effect due to increased leaky vasculature.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2476" y="3086100"/>
            <a:ext cx="5029074" cy="133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 Same Side Corner Rectangle 15"/>
          <p:cNvSpPr/>
          <p:nvPr/>
        </p:nvSpPr>
        <p:spPr>
          <a:xfrm rot="16200000">
            <a:off x="351766" y="3686810"/>
            <a:ext cx="13335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19169" y="3314700"/>
            <a:ext cx="247643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0">
                <a:solidFill>
                  <a:srgbClr val="D4AF37"/>
                </a:solidFill>
                <a:latin typeface="Cinze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110" y="3333749"/>
            <a:ext cx="1590635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1E293B"/>
                </a:solidFill>
                <a:latin typeface="Lora"/>
              </a:rPr>
              <a:t>Nanoparticle Size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169" y="3705470"/>
            <a:ext cx="4533786" cy="51385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Optimal range: </a:t>
            </a:r>
            <a:r>
              <a:rPr sz="1300" b="1">
                <a:solidFill>
                  <a:srgbClr val="D4AF37"/>
                </a:solidFill>
                <a:latin typeface="Crimson Text"/>
              </a:rPr>
              <a:t>50–200 nm</a:t>
            </a:r>
            <a:r>
              <a:rPr sz="1300" b="0">
                <a:solidFill>
                  <a:srgbClr val="4B5563"/>
                </a:solidFill>
                <a:latin typeface="Crimson Text"/>
              </a:rPr>
              <a:t>. &lt;8 nm: renal clearance; &gt;500 nm: MPS clearance.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0144" y="3086100"/>
            <a:ext cx="5029074" cy="133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 Same Side Corner Rectangle 20"/>
          <p:cNvSpPr/>
          <p:nvPr/>
        </p:nvSpPr>
        <p:spPr>
          <a:xfrm rot="16200000">
            <a:off x="5609434" y="3686810"/>
            <a:ext cx="13335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76838" y="3314700"/>
            <a:ext cx="266693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0">
                <a:solidFill>
                  <a:srgbClr val="D4AF37"/>
                </a:solidFill>
                <a:latin typeface="Cinze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7828" y="3333749"/>
            <a:ext cx="174303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1E293B"/>
                </a:solidFill>
                <a:latin typeface="Lora"/>
              </a:rPr>
              <a:t>Surface PEGylation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6838" y="3705470"/>
            <a:ext cx="4533786" cy="51385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Prolongs circulation half-life, allowing more extravasation opportunities in tumor tissue.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2476" y="4648200"/>
            <a:ext cx="5029074" cy="1562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 Same Side Corner Rectangle 25"/>
          <p:cNvSpPr/>
          <p:nvPr/>
        </p:nvSpPr>
        <p:spPr>
          <a:xfrm rot="16200000">
            <a:off x="237466" y="5363210"/>
            <a:ext cx="15621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19169" y="4876800"/>
            <a:ext cx="247643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0">
                <a:solidFill>
                  <a:srgbClr val="D4AF37"/>
                </a:solidFill>
                <a:latin typeface="Cinze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110" y="4895849"/>
            <a:ext cx="181922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1E293B"/>
                </a:solidFill>
                <a:latin typeface="Lora"/>
              </a:rPr>
              <a:t>Interstitial Pressure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19169" y="5267570"/>
            <a:ext cx="4533786" cy="51385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High interstitial fluid pressure in some tumors can impede extravasation of nanoparticles.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0144" y="4648200"/>
            <a:ext cx="5029074" cy="15621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38739" y="4876800"/>
            <a:ext cx="209544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0">
                <a:solidFill>
                  <a:srgbClr val="D4AF37"/>
                </a:solidFill>
                <a:latin typeface="Cinzel"/>
              </a:rPr>
              <a:t>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2580" y="4895849"/>
            <a:ext cx="166683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D4AF37"/>
                </a:solidFill>
                <a:latin typeface="Lora"/>
              </a:rPr>
              <a:t>Critical Limitation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8739" y="5176686"/>
            <a:ext cx="4571885" cy="92422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1D5DB"/>
                </a:solidFill>
                <a:latin typeface="Crimson Text"/>
              </a:rPr>
              <a:t>EPR is </a:t>
            </a:r>
            <a:r>
              <a:rPr sz="1300" b="1">
                <a:solidFill>
                  <a:srgbClr val="D4AF37"/>
                </a:solidFill>
                <a:latin typeface="Crimson Text"/>
              </a:rPr>
              <a:t>heterogeneous</a:t>
            </a:r>
            <a:r>
              <a:rPr sz="1300" b="0">
                <a:solidFill>
                  <a:srgbClr val="D1D5DB"/>
                </a:solidFill>
                <a:latin typeface="Crimson Text"/>
              </a:rPr>
              <a:t> in human solid tumors. Fibrotic/desmoplastic tumors have compressed vasculature, impeding nanoparticle extravasation. This translational gap explains clinical trial failures.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61980" y="1323974"/>
            <a:ext cx="3352716" cy="11430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2080"/>
              </a:spcAft>
            </a:pPr>
            <a:r>
              <a:rPr sz="3588" b="0">
                <a:solidFill>
                  <a:srgbClr val="FFFEF0"/>
                </a:solidFill>
                <a:latin typeface="Cormorant Garamond"/>
              </a:rPr>
              <a:t>Biological</a:t>
            </a:r>
            <a:r>
              <a:rPr sz="1104"/>
              <a:t>
</a:t>
            </a:r>
            <a:r>
              <a:rPr sz="3588" b="0">
                <a:solidFill>
                  <a:srgbClr val="D4AF37"/>
                </a:solidFill>
                <a:latin typeface="Cormorant Garamond"/>
              </a:rPr>
              <a:t>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2527394"/>
            <a:ext cx="3352716" cy="172701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3120"/>
              </a:spcAft>
            </a:pPr>
            <a:r>
              <a:rPr sz="2000" b="0" dirty="0">
                <a:solidFill>
                  <a:srgbClr val="FFFEF0"/>
                </a:solidFill>
                <a:latin typeface="Crimson Text"/>
              </a:rPr>
              <a:t>Drug targeting is not a single event but a cascade of sequential biological events. Failure at any step compromises the entire targeting strategy.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70" y="4876800"/>
            <a:ext cx="3105072" cy="127496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D4AF37"/>
                </a:solidFill>
                <a:latin typeface="Lora"/>
              </a:rPr>
              <a:t>"Understanding each event and its governing biological principles is what separates a pharmaceutical scientist from a formulator."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8659" y="685800"/>
            <a:ext cx="9524" cy="548640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581510" y="190499"/>
            <a:ext cx="114297" cy="114300"/>
          </a:xfrm>
          <a:prstGeom prst="roundRect">
            <a:avLst>
              <a:gd name="adj" fmla="val 166650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95847" y="120095"/>
            <a:ext cx="761683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400" b="0">
                <a:solidFill>
                  <a:srgbClr val="D4AF37"/>
                </a:solidFill>
                <a:latin typeface="Cinzel"/>
              </a:rPr>
              <a:t>EVENT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457200"/>
            <a:ext cx="5333866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 dirty="0">
                <a:solidFill>
                  <a:srgbClr val="1E293B"/>
                </a:solidFill>
                <a:latin typeface="Lora"/>
              </a:rPr>
              <a:t>Systemic Circulation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7" y="710100"/>
            <a:ext cx="4895251" cy="3323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Crimson Text"/>
              </a:rPr>
              <a:t>Avoiding premature clearance &amp; opsonization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81510" y="1333500"/>
            <a:ext cx="114297" cy="114300"/>
          </a:xfrm>
          <a:prstGeom prst="roundRect">
            <a:avLst>
              <a:gd name="adj" fmla="val 166650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5847" y="1263094"/>
            <a:ext cx="761683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400" b="0">
                <a:solidFill>
                  <a:srgbClr val="9CA3AF"/>
                </a:solidFill>
                <a:latin typeface="Cinzel"/>
              </a:rPr>
              <a:t>EVENT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1600200"/>
            <a:ext cx="5333866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Vascular Transport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5847" y="1853100"/>
            <a:ext cx="2924455" cy="3323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Crimson Text"/>
              </a:rPr>
              <a:t>Extravasation at target site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81510" y="2476499"/>
            <a:ext cx="114297" cy="114300"/>
          </a:xfrm>
          <a:prstGeom prst="roundRect">
            <a:avLst>
              <a:gd name="adj" fmla="val 166650000"/>
            </a:avLst>
          </a:prstGeom>
          <a:solidFill>
            <a:srgbClr val="FFFFFF"/>
          </a:solidFill>
          <a:ln w="1651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95847" y="2406095"/>
            <a:ext cx="761683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400" b="0">
                <a:solidFill>
                  <a:srgbClr val="9CA3AF"/>
                </a:solidFill>
                <a:latin typeface="Cinzel"/>
              </a:rPr>
              <a:t>EVENT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2743200"/>
            <a:ext cx="5333866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Target Site Recognition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5847" y="2996100"/>
            <a:ext cx="2989023" cy="3323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Crimson Text"/>
              </a:rPr>
              <a:t>Receptor-ligand interaction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81510" y="3619499"/>
            <a:ext cx="114297" cy="114300"/>
          </a:xfrm>
          <a:prstGeom prst="roundRect">
            <a:avLst>
              <a:gd name="adj" fmla="val 166650000"/>
            </a:avLst>
          </a:prstGeom>
          <a:solidFill>
            <a:srgbClr val="FFFFFF"/>
          </a:solidFill>
          <a:ln w="1651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95847" y="3549095"/>
            <a:ext cx="761683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400" b="0">
                <a:solidFill>
                  <a:srgbClr val="9CA3AF"/>
                </a:solidFill>
                <a:latin typeface="Cinzel"/>
              </a:rPr>
              <a:t>EVENT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5847" y="3886200"/>
            <a:ext cx="5333866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Cellular Internalization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5847" y="4139100"/>
            <a:ext cx="2202783" cy="3323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Crimson Text"/>
              </a:rPr>
              <a:t>Endocytic pathways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81510" y="4762500"/>
            <a:ext cx="114297" cy="114300"/>
          </a:xfrm>
          <a:prstGeom prst="roundRect">
            <a:avLst>
              <a:gd name="adj" fmla="val 166650000"/>
            </a:avLst>
          </a:prstGeom>
          <a:solidFill>
            <a:srgbClr val="FFFFFF"/>
          </a:solidFill>
          <a:ln w="1651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95847" y="4692094"/>
            <a:ext cx="761683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400" b="0">
                <a:solidFill>
                  <a:srgbClr val="9CA3AF"/>
                </a:solidFill>
                <a:latin typeface="Cinzel"/>
              </a:rPr>
              <a:t>EVENT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7" y="5029200"/>
            <a:ext cx="5333866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Endosomal Escape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5847" y="5282101"/>
            <a:ext cx="2174313" cy="3323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Crimson Text"/>
              </a:rPr>
              <a:t>Intracellular barrier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81510" y="5905500"/>
            <a:ext cx="114297" cy="114300"/>
          </a:xfrm>
          <a:prstGeom prst="roundRect">
            <a:avLst>
              <a:gd name="adj" fmla="val 166650000"/>
            </a:avLst>
          </a:prstGeom>
          <a:solidFill>
            <a:srgbClr val="FFFFFF"/>
          </a:solidFill>
          <a:ln w="1651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95847" y="5835094"/>
            <a:ext cx="761683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400" b="0">
                <a:solidFill>
                  <a:srgbClr val="9CA3AF"/>
                </a:solidFill>
                <a:latin typeface="Cinzel"/>
              </a:rPr>
              <a:t>EVENT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5847" y="6172200"/>
            <a:ext cx="5333866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Intracellular Trafficking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5847" y="6425101"/>
            <a:ext cx="2295244" cy="3323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Crimson Text"/>
              </a:rPr>
              <a:t>Subcellular targeting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476" y="548953"/>
            <a:ext cx="761683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4AF37"/>
                </a:solidFill>
                <a:latin typeface="Cinzel"/>
              </a:rPr>
              <a:t>EVENT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476" y="876299"/>
            <a:ext cx="3743231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520"/>
              </a:spcBef>
              <a:spcAft>
                <a:spcPts val="0"/>
              </a:spcAft>
            </a:pPr>
            <a:r>
              <a:rPr sz="2870" b="0">
                <a:solidFill>
                  <a:srgbClr val="1E293B"/>
                </a:solidFill>
                <a:latin typeface="Cormorant Garamond"/>
              </a:rPr>
              <a:t>Systemic Circulation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476" y="1485900"/>
            <a:ext cx="7619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83187" y="1224995"/>
            <a:ext cx="235603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Avoiding Premature Clearance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952476" y="1828800"/>
            <a:ext cx="4990975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1267484" y="4048760"/>
            <a:ext cx="45720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295367" y="2170922"/>
            <a:ext cx="285742" cy="2682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5407" y="2114998"/>
            <a:ext cx="2333972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1E293B"/>
                </a:solidFill>
                <a:latin typeface="Lora"/>
              </a:rPr>
              <a:t>Clearance Mechanisms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367" y="2628900"/>
            <a:ext cx="434329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D4AF37"/>
                </a:solidFill>
                <a:latin typeface="Lora"/>
              </a:rPr>
              <a:t>Opsonization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367" y="2851908"/>
            <a:ext cx="4560607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Protein corona flags carrier as 'foreign' for MPS phagocytosis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367" y="3352800"/>
            <a:ext cx="434329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D4AF37"/>
                </a:solidFill>
                <a:latin typeface="Lora"/>
              </a:rPr>
              <a:t>Renal Filtration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367" y="3575807"/>
            <a:ext cx="4504759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Particles </a:t>
            </a:r>
            <a:r>
              <a:rPr sz="1400" b="1">
                <a:solidFill>
                  <a:srgbClr val="D4AF37"/>
                </a:solidFill>
                <a:latin typeface="Crimson Text"/>
              </a:rPr>
              <a:t>&lt;8 nm</a:t>
            </a:r>
            <a:r>
              <a:rPr sz="1400" b="0">
                <a:solidFill>
                  <a:srgbClr val="4B5563"/>
                </a:solidFill>
                <a:latin typeface="Crimson Text"/>
              </a:rPr>
              <a:t> filtered by glomerular basement membrane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5367" y="4076699"/>
            <a:ext cx="434329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D4AF37"/>
                </a:solidFill>
                <a:latin typeface="Lora"/>
              </a:rPr>
              <a:t>Protein Adsorption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5367" y="4299708"/>
            <a:ext cx="4720844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Non-specific binding alters size, charge, and ligand accessibility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8243" y="1828800"/>
            <a:ext cx="4990975" cy="4572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53036" y="2176754"/>
            <a:ext cx="285742" cy="25659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53076" y="2114998"/>
            <a:ext cx="1949188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Lora"/>
              </a:rPr>
              <a:t>Stealth Technology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36" y="2596916"/>
            <a:ext cx="4381390" cy="52116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1560"/>
              </a:spcAft>
            </a:pPr>
            <a:r>
              <a:rPr sz="1400" b="0">
                <a:solidFill>
                  <a:srgbClr val="D1D5DB"/>
                </a:solidFill>
                <a:latin typeface="Crimson Text"/>
              </a:rPr>
              <a:t>Surface PEGylation creates hydrophilic brush layer preventing opsonin adsorption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36" y="3314700"/>
            <a:ext cx="219069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0">
                <a:solidFill>
                  <a:srgbClr val="D4AF37"/>
                </a:solidFill>
                <a:latin typeface="Cinzel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6402" y="3271008"/>
            <a:ext cx="2601994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1D5DB"/>
                </a:solidFill>
                <a:latin typeface="Crimson Text"/>
              </a:rPr>
              <a:t>PEG chains create steric repulsion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036" y="3771900"/>
            <a:ext cx="257168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0">
                <a:solidFill>
                  <a:srgbClr val="D4AF37"/>
                </a:solidFill>
                <a:latin typeface="Cinzel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501" y="3728208"/>
            <a:ext cx="2066400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1D5DB"/>
                </a:solidFill>
                <a:latin typeface="Crimson Text"/>
              </a:rPr>
              <a:t>Blocks opsonin adsorption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036" y="4229100"/>
            <a:ext cx="247643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0">
                <a:solidFill>
                  <a:srgbClr val="D4AF37"/>
                </a:solidFill>
                <a:latin typeface="Cinzel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14977" y="4185408"/>
            <a:ext cx="1892313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1D5DB"/>
                </a:solidFill>
                <a:latin typeface="Crimson Text"/>
              </a:rPr>
              <a:t>Evades MPS recognition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036" y="5420991"/>
            <a:ext cx="1580048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CA3AF"/>
                </a:solidFill>
                <a:latin typeface="Lora"/>
              </a:rPr>
              <a:t>Circulation Half-Life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3036" y="5715000"/>
            <a:ext cx="933426" cy="3809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152" b="0">
                <a:solidFill>
                  <a:srgbClr val="D4AF37"/>
                </a:solidFill>
                <a:latin typeface="Cinzel"/>
              </a:rPr>
              <a:t>20-40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62660" y="5810249"/>
            <a:ext cx="51433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FFFFFF"/>
                </a:solidFill>
                <a:latin typeface="Lora"/>
              </a:rPr>
              <a:t>hours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94158" y="5459091"/>
            <a:ext cx="1440267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CA3AF"/>
                </a:solidFill>
                <a:latin typeface="Lora"/>
              </a:rPr>
              <a:t>vs Non-PEGylated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0504" y="5753099"/>
            <a:ext cx="1123921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2080"/>
              </a:lnSpc>
              <a:spcBef>
                <a:spcPts val="260"/>
              </a:spcBef>
              <a:spcAft>
                <a:spcPts val="0"/>
              </a:spcAft>
            </a:pPr>
            <a:r>
              <a:rPr sz="1435" b="0">
                <a:solidFill>
                  <a:srgbClr val="9CA3AF"/>
                </a:solidFill>
                <a:latin typeface="Cinzel"/>
              </a:rPr>
              <a:t>Minutes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476" y="548953"/>
            <a:ext cx="761683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D4AF37"/>
                </a:solidFill>
                <a:latin typeface="Cinzel"/>
              </a:rPr>
              <a:t>EVENT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476" y="876299"/>
            <a:ext cx="3381290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520"/>
              </a:spcBef>
              <a:spcAft>
                <a:spcPts val="0"/>
              </a:spcAft>
            </a:pPr>
            <a:r>
              <a:rPr sz="2870" b="0">
                <a:solidFill>
                  <a:srgbClr val="1E293B"/>
                </a:solidFill>
                <a:latin typeface="Cormorant Garamond"/>
              </a:rPr>
              <a:t>Vascular Transport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476" y="1485900"/>
            <a:ext cx="7619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50918" y="1219834"/>
            <a:ext cx="2688300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4B5563"/>
                </a:solidFill>
                <a:latin typeface="Crimson Text"/>
              </a:rPr>
              <a:t>Extravasation at the target site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952476" y="1828800"/>
            <a:ext cx="4990975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1267484" y="4048760"/>
            <a:ext cx="45720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295367" y="2173838"/>
            <a:ext cx="285742" cy="2624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5407" y="2152650"/>
            <a:ext cx="1990675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Governing Factors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367" y="2591434"/>
            <a:ext cx="1971374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D4AF37"/>
                </a:solidFill>
                <a:latin typeface="Lora"/>
              </a:rPr>
              <a:t>Hemodynamic Forces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367" y="2863616"/>
            <a:ext cx="4343291" cy="52116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4B5563"/>
                </a:solidFill>
                <a:latin typeface="Crimson Text"/>
              </a:rPr>
              <a:t>Blood flow velocity &amp; shear stress influence particle-endothelial contact probability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367" y="3543934"/>
            <a:ext cx="2253759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4AF37"/>
                </a:solidFill>
                <a:latin typeface="Lora"/>
              </a:rPr>
              <a:t>Particle Size &amp; Geometry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367" y="3713523"/>
            <a:ext cx="4343291" cy="72635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Spherical particles </a:t>
            </a:r>
            <a:r>
              <a:rPr sz="1400" b="1">
                <a:solidFill>
                  <a:srgbClr val="D4AF37"/>
                </a:solidFill>
                <a:latin typeface="Crimson Text"/>
              </a:rPr>
              <a:t>100–200 nm</a:t>
            </a:r>
            <a:r>
              <a:rPr sz="1400" b="0">
                <a:solidFill>
                  <a:srgbClr val="4B5563"/>
                </a:solidFill>
                <a:latin typeface="Crimson Text"/>
              </a:rPr>
              <a:t> show optimal extravasation; rod-shaped particles have longer circulation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5367" y="4496434"/>
            <a:ext cx="1198149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4AF37"/>
                </a:solidFill>
                <a:latin typeface="Lora"/>
              </a:rPr>
              <a:t>Margination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5367" y="4768616"/>
            <a:ext cx="4343291" cy="52116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In post-capillary venules, nanoparticles marginate toward vessel walls, increasing endothelial interaction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8243" y="1828800"/>
            <a:ext cx="4990975" cy="4572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53036" y="2182585"/>
            <a:ext cx="285742" cy="2449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53076" y="2152650"/>
            <a:ext cx="3514637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Lora"/>
              </a:rPr>
              <a:t>Endothelial Barrier Permeability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36" y="2585208"/>
            <a:ext cx="3123804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1560"/>
              </a:spcAft>
            </a:pPr>
            <a:r>
              <a:rPr sz="1400" b="0">
                <a:solidFill>
                  <a:srgbClr val="D1D5DB"/>
                </a:solidFill>
                <a:latin typeface="Crimson Text"/>
              </a:rPr>
              <a:t>Critical size constraints for extravasation: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3036" y="3086100"/>
            <a:ext cx="4381390" cy="876299"/>
          </a:xfrm>
          <a:prstGeom prst="roundRect">
            <a:avLst>
              <a:gd name="adj" fmla="val 8695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05432" y="3232907"/>
            <a:ext cx="1583254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Lora"/>
              </a:rPr>
              <a:t>Blood-Brain Barrier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2900" y="3238500"/>
            <a:ext cx="819129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0">
                <a:solidFill>
                  <a:srgbClr val="D4AF37"/>
                </a:solidFill>
                <a:latin typeface="Cinzel"/>
              </a:rPr>
              <a:t>4–6 nm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432" y="3573139"/>
            <a:ext cx="3227102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CA3AF"/>
                </a:solidFill>
                <a:latin typeface="Crimson Text"/>
              </a:rPr>
              <a:t>Tight junctions restrict most nanoparticles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53036" y="4114800"/>
            <a:ext cx="4381390" cy="876299"/>
          </a:xfrm>
          <a:prstGeom prst="roundRect">
            <a:avLst>
              <a:gd name="adj" fmla="val 8695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05432" y="4261608"/>
            <a:ext cx="1538819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Lora"/>
              </a:rPr>
              <a:t>Tumor Vasculature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86662" y="4267199"/>
            <a:ext cx="1295367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0">
                <a:solidFill>
                  <a:srgbClr val="D4AF37"/>
                </a:solidFill>
                <a:latin typeface="Cinzel"/>
              </a:rPr>
              <a:t>100–800 nm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5432" y="4601840"/>
            <a:ext cx="3554435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CA3AF"/>
                </a:solidFill>
                <a:latin typeface="Crimson Text"/>
              </a:rPr>
              <a:t>Fenestrations allow nanoparticle extravasation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3036" y="5859140"/>
            <a:ext cx="4569456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CA3AF"/>
                </a:solidFill>
                <a:latin typeface="Lora"/>
              </a:rPr>
              <a:t>Carrier design must match target organ vascular architecture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476" y="551807"/>
            <a:ext cx="673518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AF37"/>
                </a:solidFill>
                <a:latin typeface="Cinzel"/>
              </a:rPr>
              <a:t>EVENT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476" y="876299"/>
            <a:ext cx="4238519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520"/>
              </a:spcBef>
              <a:spcAft>
                <a:spcPts val="0"/>
              </a:spcAft>
            </a:pPr>
            <a:r>
              <a:rPr sz="2870" b="0">
                <a:solidFill>
                  <a:srgbClr val="1E293B"/>
                </a:solidFill>
                <a:latin typeface="Cormorant Garamond"/>
              </a:rPr>
              <a:t>Target Site Recognition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476" y="1485900"/>
            <a:ext cx="7619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361396" y="1228362"/>
            <a:ext cx="1877822" cy="324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Crimson Text"/>
              </a:rPr>
              <a:t>Receptor-Ligand Interaction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52476" y="1828800"/>
            <a:ext cx="1933526" cy="1238249"/>
          </a:xfrm>
          <a:prstGeom prst="rect">
            <a:avLst/>
          </a:prstGeom>
          <a:solidFill>
            <a:srgbClr val="FFFFFF"/>
          </a:solidFill>
          <a:ln w="1651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7" name="TextBox 6"/>
          <p:cNvSpPr txBox="1"/>
          <p:nvPr/>
        </p:nvSpPr>
        <p:spPr>
          <a:xfrm>
            <a:off x="1104872" y="1961880"/>
            <a:ext cx="565091" cy="3053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520"/>
              </a:spcAft>
            </a:pPr>
            <a:r>
              <a:rPr sz="1200" b="1" dirty="0">
                <a:solidFill>
                  <a:srgbClr val="D4AF37"/>
                </a:solidFill>
                <a:latin typeface="Lora"/>
              </a:rPr>
              <a:t>Ligand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872" y="2266679"/>
            <a:ext cx="722121" cy="3053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520"/>
              </a:spcAft>
            </a:pPr>
            <a:r>
              <a:rPr sz="1200" b="1">
                <a:solidFill>
                  <a:srgbClr val="1E293B"/>
                </a:solidFill>
                <a:latin typeface="Lora"/>
              </a:rPr>
              <a:t>Receptor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872" y="2609850"/>
            <a:ext cx="162873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520"/>
              </a:spcAft>
            </a:pPr>
            <a:r>
              <a:rPr sz="956" b="1">
                <a:solidFill>
                  <a:srgbClr val="1E293B"/>
                </a:solidFill>
                <a:latin typeface="Lora"/>
              </a:rPr>
              <a:t>Target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38399" y="1828800"/>
            <a:ext cx="1933526" cy="1238249"/>
          </a:xfrm>
          <a:prstGeom prst="rect">
            <a:avLst/>
          </a:prstGeom>
          <a:solidFill>
            <a:srgbClr val="FFFFFF"/>
          </a:solidFill>
          <a:ln w="1651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 dirty="0"/>
          </a:p>
        </p:txBody>
      </p:sp>
      <p:sp>
        <p:nvSpPr>
          <p:cNvPr id="11" name="TextBox 10"/>
          <p:cNvSpPr txBox="1"/>
          <p:nvPr/>
        </p:nvSpPr>
        <p:spPr>
          <a:xfrm>
            <a:off x="3190795" y="1961880"/>
            <a:ext cx="532069" cy="3053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520"/>
              </a:spcAft>
            </a:pPr>
            <a:r>
              <a:rPr sz="1200" b="0" dirty="0">
                <a:solidFill>
                  <a:srgbClr val="6B7280"/>
                </a:solidFill>
                <a:latin typeface="Lora"/>
              </a:rPr>
              <a:t>Folate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0795" y="2266679"/>
            <a:ext cx="434671" cy="3053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520"/>
              </a:spcAft>
            </a:pPr>
            <a:r>
              <a:rPr sz="1200" b="0">
                <a:solidFill>
                  <a:srgbClr val="4B5563"/>
                </a:solidFill>
                <a:latin typeface="Lora"/>
              </a:rPr>
              <a:t>FR-α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90795" y="2571480"/>
            <a:ext cx="888320" cy="3053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520"/>
              </a:spcAft>
            </a:pPr>
            <a:r>
              <a:rPr sz="1200" b="0">
                <a:solidFill>
                  <a:srgbClr val="4B5563"/>
                </a:solidFill>
                <a:latin typeface="Lora"/>
              </a:rPr>
              <a:t>Cancer cells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4321" y="1828800"/>
            <a:ext cx="1933526" cy="1238249"/>
          </a:xfrm>
          <a:prstGeom prst="rect">
            <a:avLst/>
          </a:prstGeom>
          <a:solidFill>
            <a:srgbClr val="FFFFFF"/>
          </a:solidFill>
          <a:ln w="1651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5" name="TextBox 14"/>
          <p:cNvSpPr txBox="1"/>
          <p:nvPr/>
        </p:nvSpPr>
        <p:spPr>
          <a:xfrm>
            <a:off x="5276718" y="1961880"/>
            <a:ext cx="817468" cy="3053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520"/>
              </a:spcAft>
            </a:pPr>
            <a:r>
              <a:rPr sz="1200" b="0">
                <a:solidFill>
                  <a:srgbClr val="6B7280"/>
                </a:solidFill>
                <a:latin typeface="Lora"/>
              </a:rPr>
              <a:t>Transferrin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6718" y="2266679"/>
            <a:ext cx="745653" cy="3053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520"/>
              </a:spcAft>
            </a:pPr>
            <a:r>
              <a:rPr sz="1200" b="0">
                <a:solidFill>
                  <a:srgbClr val="4B5563"/>
                </a:solidFill>
                <a:latin typeface="Lora"/>
              </a:rPr>
              <a:t>TfR/CD71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6718" y="2571480"/>
            <a:ext cx="953081" cy="3053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520"/>
              </a:spcAft>
            </a:pPr>
            <a:r>
              <a:rPr sz="1200" b="0">
                <a:solidFill>
                  <a:srgbClr val="4B5563"/>
                </a:solidFill>
                <a:latin typeface="Lora"/>
              </a:rPr>
              <a:t>Brain tumors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19769" y="1828800"/>
            <a:ext cx="1933526" cy="1238249"/>
          </a:xfrm>
          <a:prstGeom prst="rect">
            <a:avLst/>
          </a:prstGeom>
          <a:solidFill>
            <a:srgbClr val="FFFFFF"/>
          </a:solidFill>
          <a:ln w="1651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9" name="TextBox 18"/>
          <p:cNvSpPr txBox="1"/>
          <p:nvPr/>
        </p:nvSpPr>
        <p:spPr>
          <a:xfrm>
            <a:off x="7372165" y="1961880"/>
            <a:ext cx="763414" cy="3053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520"/>
              </a:spcAft>
            </a:pPr>
            <a:r>
              <a:rPr sz="1200" b="0">
                <a:solidFill>
                  <a:srgbClr val="6B7280"/>
                </a:solidFill>
                <a:latin typeface="Lora"/>
              </a:rPr>
              <a:t>Galactose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2165" y="2266679"/>
            <a:ext cx="569323" cy="3053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520"/>
              </a:spcAft>
            </a:pPr>
            <a:r>
              <a:rPr sz="1200" b="0">
                <a:solidFill>
                  <a:srgbClr val="4B5563"/>
                </a:solidFill>
                <a:latin typeface="Lora"/>
              </a:rPr>
              <a:t>ASGPR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2165" y="2571480"/>
            <a:ext cx="927818" cy="3053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520"/>
              </a:spcAft>
            </a:pPr>
            <a:r>
              <a:rPr sz="1200" b="0">
                <a:solidFill>
                  <a:srgbClr val="4B5563"/>
                </a:solidFill>
                <a:latin typeface="Lora"/>
              </a:rPr>
              <a:t>Hepatocytes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05692" y="1828800"/>
            <a:ext cx="1933526" cy="1238249"/>
          </a:xfrm>
          <a:prstGeom prst="rect">
            <a:avLst/>
          </a:prstGeom>
          <a:solidFill>
            <a:srgbClr val="FFFFFF"/>
          </a:solidFill>
          <a:ln w="1651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23" name="TextBox 22"/>
          <p:cNvSpPr txBox="1"/>
          <p:nvPr/>
        </p:nvSpPr>
        <p:spPr>
          <a:xfrm>
            <a:off x="9458088" y="1961880"/>
            <a:ext cx="937501" cy="3053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520"/>
              </a:spcAft>
            </a:pPr>
            <a:r>
              <a:rPr sz="1200" b="0">
                <a:solidFill>
                  <a:srgbClr val="6B7280"/>
                </a:solidFill>
                <a:latin typeface="Lora"/>
              </a:rPr>
              <a:t>RGD peptide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58088" y="2266679"/>
            <a:ext cx="983026" cy="3053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520"/>
              </a:spcAft>
            </a:pPr>
            <a:r>
              <a:rPr sz="1200" b="0">
                <a:solidFill>
                  <a:srgbClr val="4B5563"/>
                </a:solidFill>
                <a:latin typeface="Lora"/>
              </a:rPr>
              <a:t>Integrin αvβ3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58088" y="2571480"/>
            <a:ext cx="1539204" cy="3053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520"/>
              </a:spcAft>
            </a:pPr>
            <a:r>
              <a:rPr sz="1200" b="0">
                <a:solidFill>
                  <a:srgbClr val="4B5563"/>
                </a:solidFill>
                <a:latin typeface="Lora"/>
              </a:rPr>
              <a:t>Tumor neovasculature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2476" y="3295650"/>
            <a:ext cx="4990975" cy="2628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 Same Side Corner Rectangle 26"/>
          <p:cNvSpPr/>
          <p:nvPr/>
        </p:nvSpPr>
        <p:spPr>
          <a:xfrm rot="16200000">
            <a:off x="-295934" y="4544060"/>
            <a:ext cx="26289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219169" y="3593646"/>
            <a:ext cx="285742" cy="20410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619209" y="3543300"/>
            <a:ext cx="1676358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 dirty="0">
                <a:solidFill>
                  <a:srgbClr val="1E293B"/>
                </a:solidFill>
                <a:latin typeface="Lora"/>
              </a:rPr>
              <a:t>Biological Basis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9169" y="4015537"/>
            <a:ext cx="4495687" cy="7509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1040"/>
              </a:spcAft>
            </a:pPr>
            <a:r>
              <a:rPr sz="1200" b="0" dirty="0">
                <a:solidFill>
                  <a:srgbClr val="4B5563"/>
                </a:solidFill>
                <a:latin typeface="Crimson Text"/>
              </a:rPr>
              <a:t> Active targeting exploits </a:t>
            </a:r>
            <a:r>
              <a:rPr sz="1200" b="1" dirty="0">
                <a:solidFill>
                  <a:srgbClr val="D4AF37"/>
                </a:solidFill>
                <a:latin typeface="Crimson Text"/>
              </a:rPr>
              <a:t>overexpressed receptors</a:t>
            </a:r>
            <a:r>
              <a:rPr sz="1200" b="0" dirty="0">
                <a:solidFill>
                  <a:srgbClr val="4B5563"/>
                </a:solidFill>
                <a:latin typeface="Crimson Text"/>
              </a:rPr>
              <a:t> on diseased cells. Molecular complementarity between targeting ligand and cognate receptor drives preferential uptake. 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19169" y="4914900"/>
            <a:ext cx="1857328" cy="704849"/>
          </a:xfrm>
          <a:prstGeom prst="rect">
            <a:avLst/>
          </a:prstGeom>
          <a:solidFill>
            <a:srgbClr val="FFFEF0"/>
          </a:solidFill>
          <a:ln w="825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342991" y="5038724"/>
            <a:ext cx="904852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0">
                <a:solidFill>
                  <a:srgbClr val="D4AF37"/>
                </a:solidFill>
                <a:latin typeface="Cinzel"/>
              </a:rPr>
              <a:t>100-300×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2991" y="5343525"/>
            <a:ext cx="1609684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B7280"/>
                </a:solidFill>
                <a:latin typeface="Crimson Text"/>
              </a:rPr>
              <a:t>FR-α overexpression on cancer cells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28894" y="4914900"/>
            <a:ext cx="1714457" cy="704849"/>
          </a:xfrm>
          <a:prstGeom prst="rect">
            <a:avLst/>
          </a:prstGeom>
          <a:solidFill>
            <a:srgbClr val="FFFEF0"/>
          </a:solidFill>
          <a:ln w="825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52716" y="5038724"/>
            <a:ext cx="923901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0">
                <a:solidFill>
                  <a:srgbClr val="D4AF37"/>
                </a:solidFill>
                <a:latin typeface="Cinzel"/>
              </a:rPr>
              <a:t>~500,000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52716" y="5343525"/>
            <a:ext cx="1466813" cy="1524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B7280"/>
                </a:solidFill>
                <a:latin typeface="Crimson Text"/>
              </a:rPr>
              <a:t>ASGPR receptors per hepatocyte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48243" y="3295650"/>
            <a:ext cx="4990975" cy="26289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76838" y="3579067"/>
            <a:ext cx="285742" cy="23326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876878" y="3543300"/>
            <a:ext cx="1714457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Lora"/>
              </a:rPr>
              <a:t>Binding Affinity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6838" y="4000716"/>
            <a:ext cx="4533786" cy="53296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1040"/>
              </a:spcAft>
            </a:pPr>
            <a:r>
              <a:rPr sz="1200" b="0" dirty="0">
                <a:solidFill>
                  <a:srgbClr val="D1D5DB"/>
                </a:solidFill>
                <a:latin typeface="Crimson Text"/>
              </a:rPr>
              <a:t>Quantified by dissociation constant (</a:t>
            </a:r>
            <a:r>
              <a:rPr sz="1200" b="0" dirty="0" err="1">
                <a:solidFill>
                  <a:srgbClr val="D1D5DB"/>
                </a:solidFill>
                <a:latin typeface="Crimson Text"/>
              </a:rPr>
              <a:t>Kd</a:t>
            </a:r>
            <a:r>
              <a:rPr sz="1200" b="0" dirty="0">
                <a:solidFill>
                  <a:srgbClr val="D1D5DB"/>
                </a:solidFill>
                <a:latin typeface="Crimson Text"/>
              </a:rPr>
              <a:t>). Lower </a:t>
            </a:r>
            <a:r>
              <a:rPr sz="1200" b="0" dirty="0" err="1">
                <a:solidFill>
                  <a:srgbClr val="D1D5DB"/>
                </a:solidFill>
                <a:latin typeface="Crimson Text"/>
              </a:rPr>
              <a:t>Kd</a:t>
            </a:r>
            <a:r>
              <a:rPr sz="1200" b="0" dirty="0">
                <a:solidFill>
                  <a:srgbClr val="D1D5DB"/>
                </a:solidFill>
                <a:latin typeface="Crimson Text"/>
              </a:rPr>
              <a:t> indicates stronger binding affinity.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76838" y="4667249"/>
            <a:ext cx="4533786" cy="4572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591135" y="4743179"/>
            <a:ext cx="1600246" cy="3053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1D5DB"/>
                </a:solidFill>
                <a:latin typeface="Lora"/>
              </a:rPr>
              <a:t>Monoclonal Antibodies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34306" y="4781549"/>
            <a:ext cx="116202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D4AF37"/>
                </a:solidFill>
                <a:latin typeface="Cinzel"/>
              </a:rPr>
              <a:t>Kd ~10⁻⁹–10⁻¹¹ 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76838" y="5238749"/>
            <a:ext cx="4533786" cy="4572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591135" y="5314679"/>
            <a:ext cx="751681" cy="3053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1D5DB"/>
                </a:solidFill>
                <a:latin typeface="Lora"/>
              </a:rPr>
              <a:t>Aptamers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15257" y="5353049"/>
            <a:ext cx="118107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D4AF37"/>
                </a:solidFill>
                <a:latin typeface="Cinzel"/>
              </a:rPr>
              <a:t>Kd ~10⁻⁹–10⁻¹² M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476" y="548953"/>
            <a:ext cx="761683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4AF37"/>
                </a:solidFill>
                <a:latin typeface="Cinzel"/>
              </a:rPr>
              <a:t>EVENT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476" y="876299"/>
            <a:ext cx="4219469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520"/>
              </a:spcBef>
              <a:spcAft>
                <a:spcPts val="0"/>
              </a:spcAft>
            </a:pPr>
            <a:r>
              <a:rPr sz="2870" b="0">
                <a:solidFill>
                  <a:srgbClr val="1E293B"/>
                </a:solidFill>
                <a:latin typeface="Cormorant Garamond"/>
              </a:rPr>
              <a:t>Cellular Internalization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476" y="1485900"/>
            <a:ext cx="7619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043552" y="1214832"/>
            <a:ext cx="2195666" cy="3516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4B5563"/>
                </a:solidFill>
                <a:latin typeface="Crimson Text"/>
              </a:rPr>
              <a:t>Endocytic Pathways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952476" y="1828800"/>
            <a:ext cx="5029074" cy="2171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67334" y="2848610"/>
            <a:ext cx="21717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219169" y="2106385"/>
            <a:ext cx="285742" cy="244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19209" y="2045402"/>
            <a:ext cx="2761333" cy="36689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93B"/>
                </a:solidFill>
                <a:latin typeface="Lora"/>
              </a:rPr>
              <a:t>Clathrin-Mediated Endocytosis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169" y="2509008"/>
            <a:ext cx="3968138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78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Predominant pathway for receptor-mediated uptake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169" y="2863295"/>
            <a:ext cx="788934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4AF37"/>
                </a:solidFill>
                <a:latin typeface="Cinzel"/>
              </a:rPr>
              <a:t>~150 nm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2576" y="2870958"/>
            <a:ext cx="1583703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Crimson Text"/>
              </a:rPr>
              <a:t>Clathrin-coated pits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169" y="3194808"/>
            <a:ext cx="4551246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Pathway: Early endosomes → Late endosomes → Lysosomes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4" y="1828800"/>
            <a:ext cx="5029074" cy="2171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38739" y="2126796"/>
            <a:ext cx="285742" cy="20410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38779" y="2045402"/>
            <a:ext cx="2857834" cy="36689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Lora"/>
              </a:rPr>
              <a:t>Caveolae-Mediated Endocytosis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8739" y="2509008"/>
            <a:ext cx="2497030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780"/>
              </a:spcAft>
            </a:pPr>
            <a:r>
              <a:rPr sz="1400" b="0">
                <a:solidFill>
                  <a:srgbClr val="D1D5DB"/>
                </a:solidFill>
                <a:latin typeface="Crimson Text"/>
              </a:rPr>
              <a:t>Bypasses lysosomal degradation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8739" y="2863295"/>
            <a:ext cx="936410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4AF37"/>
                </a:solidFill>
                <a:latin typeface="Cinzel"/>
              </a:rPr>
              <a:t>50-100 nm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53116" y="2870958"/>
            <a:ext cx="1229888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CA3AF"/>
                </a:solidFill>
                <a:latin typeface="Crimson Text"/>
              </a:rPr>
              <a:t>Caveolin-1 rich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739" y="3194808"/>
            <a:ext cx="3266600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1D5DB"/>
                </a:solidFill>
                <a:latin typeface="Crimson Text"/>
              </a:rPr>
              <a:t>Ideal for acid-labile drugs and nucleic acids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2476" y="4229100"/>
            <a:ext cx="5029074" cy="2171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 Same Side Corner Rectangle 21"/>
          <p:cNvSpPr/>
          <p:nvPr/>
        </p:nvSpPr>
        <p:spPr>
          <a:xfrm rot="16200000">
            <a:off x="-67334" y="5248910"/>
            <a:ext cx="21717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19169" y="4524180"/>
            <a:ext cx="285742" cy="20993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619209" y="4445703"/>
            <a:ext cx="1655903" cy="36689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93B"/>
                </a:solidFill>
                <a:latin typeface="Lora"/>
              </a:rPr>
              <a:t>Macropinocytosis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19169" y="4909307"/>
            <a:ext cx="3418756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78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Non-specific, actin-driven membrane ruffling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9169" y="5263594"/>
            <a:ext cx="61100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4AF37"/>
                </a:solidFill>
                <a:latin typeface="Cinzel"/>
              </a:rPr>
              <a:t>&gt;1 μm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23981" y="5271258"/>
            <a:ext cx="2012795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Crimson Text"/>
              </a:rPr>
              <a:t>Large volume engulfment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19169" y="5595107"/>
            <a:ext cx="2664512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Relevant for immune cell targeting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0144" y="4229100"/>
            <a:ext cx="5029074" cy="2171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 Same Side Corner Rectangle 29"/>
          <p:cNvSpPr/>
          <p:nvPr/>
        </p:nvSpPr>
        <p:spPr>
          <a:xfrm rot="16200000">
            <a:off x="5190334" y="5248910"/>
            <a:ext cx="21717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76838" y="4527096"/>
            <a:ext cx="285742" cy="20410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876878" y="4445703"/>
            <a:ext cx="1252459" cy="36689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93B"/>
                </a:solidFill>
                <a:latin typeface="Lora"/>
              </a:rPr>
              <a:t>Phagocytosis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6838" y="4909307"/>
            <a:ext cx="2878480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78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Restricted to professional phagocytes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6838" y="5263594"/>
            <a:ext cx="788934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4AF37"/>
                </a:solidFill>
                <a:latin typeface="Cinzel"/>
              </a:rPr>
              <a:t>&gt;500 nm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48343" y="5271258"/>
            <a:ext cx="1575881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Crimson Text"/>
              </a:rPr>
              <a:t>Opsonized particles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6838" y="5595107"/>
            <a:ext cx="3446008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Relevant for MPS-targeted delivery strategies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476" y="550653"/>
            <a:ext cx="718402" cy="27982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AF37"/>
                </a:solidFill>
                <a:latin typeface="Cinzel"/>
              </a:rPr>
              <a:t>EVENT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476" y="876299"/>
            <a:ext cx="3266993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520"/>
              </a:spcBef>
              <a:spcAft>
                <a:spcPts val="0"/>
              </a:spcAft>
            </a:pPr>
            <a:r>
              <a:rPr sz="2870" b="0" dirty="0">
                <a:solidFill>
                  <a:srgbClr val="1E293B"/>
                </a:solidFill>
                <a:latin typeface="Cormorant Garamond"/>
              </a:rPr>
              <a:t>Endosomal Escape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476" y="1485900"/>
            <a:ext cx="7619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14460" y="1214833"/>
            <a:ext cx="2624758" cy="3516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4B5563"/>
                </a:solidFill>
                <a:latin typeface="Crimson Text"/>
              </a:rPr>
              <a:t>The Intracellular Barrier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52476" y="1828800"/>
            <a:ext cx="4990975" cy="14859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81070" y="2112217"/>
            <a:ext cx="285742" cy="2332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81110" y="2076449"/>
            <a:ext cx="1200119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Lora"/>
              </a:rPr>
              <a:t>The Threat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1070" y="2432721"/>
            <a:ext cx="4533786" cy="7543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1D5DB"/>
                </a:solidFill>
                <a:latin typeface="Crimson Text"/>
              </a:rPr>
              <a:t> After endocytosis, cargo faces </a:t>
            </a:r>
            <a:r>
              <a:rPr sz="1300" b="1">
                <a:solidFill>
                  <a:srgbClr val="D4AF37"/>
                </a:solidFill>
                <a:latin typeface="Crimson Text"/>
              </a:rPr>
              <a:t>lysosomal degradation</a:t>
            </a:r>
            <a:r>
              <a:rPr sz="1300" b="0">
                <a:solidFill>
                  <a:srgbClr val="D1D5DB"/>
                </a:solidFill>
                <a:latin typeface="Crimson Text"/>
              </a:rPr>
              <a:t> — over </a:t>
            </a:r>
            <a:r>
              <a:rPr sz="1300" b="0">
                <a:solidFill>
                  <a:srgbClr val="D4AF37"/>
                </a:solidFill>
                <a:latin typeface="Cinzel"/>
              </a:rPr>
              <a:t>50</a:t>
            </a:r>
            <a:r>
              <a:rPr sz="1300" b="0">
                <a:solidFill>
                  <a:srgbClr val="D1D5DB"/>
                </a:solidFill>
                <a:latin typeface="Crimson Text"/>
              </a:rPr>
              <a:t> hydrolytic enzymes active at </a:t>
            </a:r>
            <a:r>
              <a:rPr sz="1300" b="0">
                <a:solidFill>
                  <a:srgbClr val="D4AF37"/>
                </a:solidFill>
                <a:latin typeface="Cinzel"/>
              </a:rPr>
              <a:t>pH 4.5–5.0</a:t>
            </a:r>
            <a:r>
              <a:rPr sz="1300" b="0">
                <a:solidFill>
                  <a:srgbClr val="D1D5DB"/>
                </a:solidFill>
                <a:latin typeface="Crimson Text"/>
              </a:rPr>
              <a:t> can destroy therapeutics within minutes. 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2476" y="3543300"/>
            <a:ext cx="4990975" cy="2857500"/>
          </a:xfrm>
          <a:prstGeom prst="rect">
            <a:avLst/>
          </a:prstGeom>
          <a:solidFill>
            <a:srgbClr val="FFFFFF"/>
          </a:solidFill>
          <a:ln w="3302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1070" y="3879396"/>
            <a:ext cx="285742" cy="20410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81110" y="3829050"/>
            <a:ext cx="1904952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Escape Strategies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1070" y="4305300"/>
            <a:ext cx="2190695" cy="857250"/>
          </a:xfrm>
          <a:prstGeom prst="rect">
            <a:avLst/>
          </a:prstGeom>
          <a:solidFill>
            <a:srgbClr val="FFFEF0"/>
          </a:solidFill>
          <a:ln w="825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04892" y="4438649"/>
            <a:ext cx="161920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D4AF37"/>
                </a:solidFill>
                <a:latin typeface="Cinzel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4892" y="4652318"/>
            <a:ext cx="1090107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E293B"/>
                </a:solidFill>
                <a:latin typeface="Lora"/>
              </a:rPr>
              <a:t>Proton Sponge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4892" y="4841274"/>
            <a:ext cx="1220142" cy="24250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>
                <a:solidFill>
                  <a:srgbClr val="4B5563"/>
                </a:solidFill>
                <a:latin typeface="Crimson Text"/>
              </a:rPr>
              <a:t>PEI, poly-L-histidine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4161" y="4305300"/>
            <a:ext cx="2190695" cy="857250"/>
          </a:xfrm>
          <a:prstGeom prst="rect">
            <a:avLst/>
          </a:prstGeom>
          <a:solidFill>
            <a:srgbClr val="FFFEF0"/>
          </a:solidFill>
          <a:ln w="825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47983" y="4438649"/>
            <a:ext cx="19049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D4AF37"/>
                </a:solidFill>
                <a:latin typeface="Cinze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7983" y="4652318"/>
            <a:ext cx="1681486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Lora"/>
              </a:rPr>
              <a:t>pH-Responsive Peptides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7983" y="4841274"/>
            <a:ext cx="793743" cy="24250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>
                <a:solidFill>
                  <a:srgbClr val="4B5563"/>
                </a:solidFill>
                <a:latin typeface="Crimson Text"/>
              </a:rPr>
              <a:t>GALA, KALA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81070" y="5314950"/>
            <a:ext cx="2190695" cy="857250"/>
          </a:xfrm>
          <a:prstGeom prst="rect">
            <a:avLst/>
          </a:prstGeom>
          <a:solidFill>
            <a:srgbClr val="FFFEF0"/>
          </a:solidFill>
          <a:ln w="825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04892" y="5448300"/>
            <a:ext cx="19049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D4AF37"/>
                </a:solidFill>
                <a:latin typeface="Cinze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4892" y="5661969"/>
            <a:ext cx="2063963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Lora"/>
              </a:rPr>
              <a:t>Photochemical Internalization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4892" y="5850923"/>
            <a:ext cx="1216936" cy="24250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B5563"/>
                </a:solidFill>
                <a:latin typeface="Crimson Text"/>
              </a:rPr>
              <a:t>Light-activated ROS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24161" y="5314950"/>
            <a:ext cx="2190695" cy="857250"/>
          </a:xfrm>
          <a:prstGeom prst="rect">
            <a:avLst/>
          </a:prstGeom>
          <a:solidFill>
            <a:srgbClr val="FFFEF0"/>
          </a:solidFill>
          <a:ln w="825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47983" y="5448300"/>
            <a:ext cx="200019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D4AF37"/>
                </a:solidFill>
                <a:latin typeface="Cinzel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7983" y="5661969"/>
            <a:ext cx="1461490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Lora"/>
              </a:rPr>
              <a:t>Viral Fusion Proteins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47983" y="5850923"/>
            <a:ext cx="946028" cy="24250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B5563"/>
                </a:solidFill>
                <a:latin typeface="Crimson Text"/>
              </a:rPr>
              <a:t>Hemagglutinin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48243" y="1828800"/>
            <a:ext cx="4990975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0" name="Round Same Side Corner Rectangle 29"/>
          <p:cNvSpPr/>
          <p:nvPr/>
        </p:nvSpPr>
        <p:spPr>
          <a:xfrm rot="16200000">
            <a:off x="4028283" y="4048760"/>
            <a:ext cx="45720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4937" y="2118048"/>
            <a:ext cx="285742" cy="22160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14977" y="2076449"/>
            <a:ext cx="2295467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Proton Sponge Effect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4937" y="2532199"/>
            <a:ext cx="4495687" cy="53630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156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Cationic polymers with high buffering capacity absorb protons pumped into the endosome, preventing acidification.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14937" y="3314700"/>
            <a:ext cx="304792" cy="304800"/>
          </a:xfrm>
          <a:prstGeom prst="roundRect">
            <a:avLst>
              <a:gd name="adj" fmla="val 62493750"/>
            </a:avLst>
          </a:prstGeom>
          <a:solidFill>
            <a:srgbClr val="D4AF3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35" name="TextBox 34"/>
          <p:cNvSpPr txBox="1"/>
          <p:nvPr/>
        </p:nvSpPr>
        <p:spPr>
          <a:xfrm>
            <a:off x="6638759" y="3312763"/>
            <a:ext cx="232692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AF37"/>
                </a:solidFill>
                <a:latin typeface="Cinzel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34026" y="3236562"/>
            <a:ext cx="3459537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V-type H⁺-ATPases pump protons into endosome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14937" y="3809999"/>
            <a:ext cx="304792" cy="304800"/>
          </a:xfrm>
          <a:prstGeom prst="roundRect">
            <a:avLst>
              <a:gd name="adj" fmla="val 62493750"/>
            </a:avLst>
          </a:prstGeom>
          <a:solidFill>
            <a:srgbClr val="D4AF3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38" name="TextBox 37"/>
          <p:cNvSpPr txBox="1"/>
          <p:nvPr/>
        </p:nvSpPr>
        <p:spPr>
          <a:xfrm>
            <a:off x="6629234" y="3808062"/>
            <a:ext cx="232692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AF37"/>
                </a:solidFill>
                <a:latin typeface="Cinzel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4026" y="3731863"/>
            <a:ext cx="3547446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Cationic polymers absorb protons, maintaining pH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14937" y="4305300"/>
            <a:ext cx="304792" cy="304800"/>
          </a:xfrm>
          <a:prstGeom prst="roundRect">
            <a:avLst>
              <a:gd name="adj" fmla="val 62493750"/>
            </a:avLst>
          </a:prstGeom>
          <a:solidFill>
            <a:srgbClr val="D4AF3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41" name="TextBox 40"/>
          <p:cNvSpPr txBox="1"/>
          <p:nvPr/>
        </p:nvSpPr>
        <p:spPr>
          <a:xfrm>
            <a:off x="6629234" y="4303363"/>
            <a:ext cx="232692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AF37"/>
                </a:solidFill>
                <a:latin typeface="Cinzel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4026" y="4227162"/>
            <a:ext cx="3379323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Sustained proton influx causes osmotic swelling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14937" y="4800600"/>
            <a:ext cx="304792" cy="304800"/>
          </a:xfrm>
          <a:prstGeom prst="roundRect">
            <a:avLst>
              <a:gd name="adj" fmla="val 62493750"/>
            </a:avLst>
          </a:prstGeom>
          <a:solidFill>
            <a:srgbClr val="D4AF3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00"/>
          </a:p>
        </p:txBody>
      </p:sp>
      <p:sp>
        <p:nvSpPr>
          <p:cNvPr id="44" name="TextBox 43"/>
          <p:cNvSpPr txBox="1"/>
          <p:nvPr/>
        </p:nvSpPr>
        <p:spPr>
          <a:xfrm>
            <a:off x="6619709" y="4798662"/>
            <a:ext cx="232692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AF37"/>
                </a:solidFill>
                <a:latin typeface="Cinze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34026" y="4722463"/>
            <a:ext cx="4317464" cy="3086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rimson Text"/>
              </a:rPr>
              <a:t>Endosomal membrane ruptures, releasing cargo to cytoplasm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476" y="548953"/>
            <a:ext cx="761683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D4AF37"/>
                </a:solidFill>
                <a:latin typeface="Cinzel"/>
              </a:rPr>
              <a:t>EVENT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476" y="850727"/>
            <a:ext cx="3558282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520"/>
              </a:spcBef>
              <a:spcAft>
                <a:spcPts val="0"/>
              </a:spcAft>
            </a:pPr>
            <a:r>
              <a:rPr sz="2870" b="0" dirty="0">
                <a:solidFill>
                  <a:srgbClr val="1E293B"/>
                </a:solidFill>
                <a:latin typeface="Cormorant Garamond"/>
              </a:rPr>
              <a:t>Intracellular Trafficking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476" y="1485900"/>
            <a:ext cx="7619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37463" y="1214832"/>
            <a:ext cx="3601755" cy="3516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4B5563"/>
                </a:solidFill>
                <a:latin typeface="Crimson Text"/>
              </a:rPr>
              <a:t>Third-Order Subcellular Targeting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952476" y="1828800"/>
            <a:ext cx="3228894" cy="4286250"/>
          </a:xfrm>
          <a:prstGeom prst="rect">
            <a:avLst/>
          </a:prstGeom>
          <a:solidFill>
            <a:srgbClr val="FFFFFF"/>
          </a:solidFill>
          <a:ln w="3302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81070" y="2144485"/>
            <a:ext cx="285742" cy="244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81110" y="2114550"/>
            <a:ext cx="1952576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Nuclear Targeting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1070" y="2459595"/>
            <a:ext cx="2771705" cy="75770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104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Critical for gene therapy delivery. Nuclear envelope presents final barrier.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1070" y="3238500"/>
            <a:ext cx="2771705" cy="609600"/>
          </a:xfrm>
          <a:prstGeom prst="rect">
            <a:avLst/>
          </a:prstGeom>
          <a:solidFill>
            <a:srgbClr val="FFF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 Same Side Corner Rectangle 10"/>
          <p:cNvSpPr/>
          <p:nvPr/>
        </p:nvSpPr>
        <p:spPr>
          <a:xfrm rot="16200000">
            <a:off x="909290" y="3510280"/>
            <a:ext cx="609600" cy="660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14417" y="3325491"/>
            <a:ext cx="1110753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93B"/>
                </a:solidFill>
                <a:latin typeface="Lora"/>
              </a:rPr>
              <a:t>NLS Peptides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4417" y="3533784"/>
            <a:ext cx="2115516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Crimson Text"/>
              </a:rPr>
              <a:t>PKKKRKV (SV40 large T antigen)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1070" y="3962399"/>
            <a:ext cx="2771705" cy="609600"/>
          </a:xfrm>
          <a:prstGeom prst="rect">
            <a:avLst/>
          </a:prstGeom>
          <a:solidFill>
            <a:srgbClr val="FFF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 Same Side Corner Rectangle 14"/>
          <p:cNvSpPr/>
          <p:nvPr/>
        </p:nvSpPr>
        <p:spPr>
          <a:xfrm rot="16200000">
            <a:off x="909290" y="4234179"/>
            <a:ext cx="609600" cy="660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14417" y="4049390"/>
            <a:ext cx="1767984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93B"/>
                </a:solidFill>
                <a:latin typeface="Lora"/>
              </a:rPr>
              <a:t>Transport Mechanism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4417" y="4257684"/>
            <a:ext cx="1912190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Crimson Text"/>
              </a:rPr>
              <a:t>Importin-mediated shuttling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1070" y="4686300"/>
            <a:ext cx="2771705" cy="609600"/>
          </a:xfrm>
          <a:prstGeom prst="rect">
            <a:avLst/>
          </a:prstGeom>
          <a:solidFill>
            <a:srgbClr val="FFF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 Same Side Corner Rectangle 18"/>
          <p:cNvSpPr/>
          <p:nvPr/>
        </p:nvSpPr>
        <p:spPr>
          <a:xfrm rot="16200000">
            <a:off x="909290" y="4958080"/>
            <a:ext cx="609600" cy="660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14417" y="4773291"/>
            <a:ext cx="1192699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93B"/>
                </a:solidFill>
                <a:latin typeface="Lora"/>
              </a:rPr>
              <a:t>NPC Diameter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4417" y="4981584"/>
            <a:ext cx="2063578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Crimson Text"/>
              </a:rPr>
              <a:t>~25 nm passive, ~39 nm active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6162" y="1828800"/>
            <a:ext cx="3228894" cy="42862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4757" y="2239735"/>
            <a:ext cx="285742" cy="244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114797" y="2057400"/>
            <a:ext cx="2371665" cy="609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Lora"/>
              </a:rPr>
              <a:t>Mitochondrial Targeting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14757" y="2688195"/>
            <a:ext cx="2771705" cy="75770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1040"/>
              </a:spcAft>
            </a:pPr>
            <a:r>
              <a:rPr sz="1400" b="0">
                <a:solidFill>
                  <a:srgbClr val="D1D5DB"/>
                </a:solidFill>
                <a:latin typeface="Crimson Text"/>
              </a:rPr>
              <a:t>Essential for treating mitochondrial disorders. Exploits electrochemical potential.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14757" y="3467100"/>
            <a:ext cx="2771705" cy="6096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 Same Side Corner Rectangle 26"/>
          <p:cNvSpPr/>
          <p:nvPr/>
        </p:nvSpPr>
        <p:spPr>
          <a:xfrm rot="16200000">
            <a:off x="4442977" y="3738880"/>
            <a:ext cx="609600" cy="660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48103" y="3554091"/>
            <a:ext cx="1161152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Lora"/>
              </a:rPr>
              <a:t>MTS Peptides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8103" y="3762383"/>
            <a:ext cx="2607702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CA3AF"/>
                </a:solidFill>
                <a:latin typeface="Crimson Text"/>
              </a:rPr>
              <a:t>Positively charged amphiphilic peptides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14757" y="4190999"/>
            <a:ext cx="2771705" cy="6096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 Same Side Corner Rectangle 30"/>
          <p:cNvSpPr/>
          <p:nvPr/>
        </p:nvSpPr>
        <p:spPr>
          <a:xfrm rot="16200000">
            <a:off x="4442977" y="4462779"/>
            <a:ext cx="609600" cy="660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48103" y="4277991"/>
            <a:ext cx="1124026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Lora"/>
              </a:rPr>
              <a:t>Driving Force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8103" y="4486284"/>
            <a:ext cx="2681247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CA3AF"/>
                </a:solidFill>
                <a:latin typeface="Crimson Text"/>
              </a:rPr>
              <a:t>Δψm ≈ −180 mV across inner membrane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14757" y="4914900"/>
            <a:ext cx="2771705" cy="6096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 Same Side Corner Rectangle 34"/>
          <p:cNvSpPr/>
          <p:nvPr/>
        </p:nvSpPr>
        <p:spPr>
          <a:xfrm rot="16200000">
            <a:off x="4442977" y="5186680"/>
            <a:ext cx="609600" cy="660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48103" y="5001891"/>
            <a:ext cx="1288558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Lora"/>
              </a:rPr>
              <a:t>TPP Conjugates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48103" y="5210184"/>
            <a:ext cx="2507546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CA3AF"/>
                </a:solidFill>
                <a:latin typeface="Crimson Text"/>
              </a:rPr>
              <a:t>Triphenylphosphonium cation carriers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10324" y="1828800"/>
            <a:ext cx="3228894" cy="4286250"/>
          </a:xfrm>
          <a:prstGeom prst="rect">
            <a:avLst/>
          </a:prstGeom>
          <a:solidFill>
            <a:srgbClr val="FFFFFF"/>
          </a:solidFill>
          <a:ln w="3302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8919" y="2164896"/>
            <a:ext cx="285742" cy="20410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638959" y="2114550"/>
            <a:ext cx="2238319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Lysosomal 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38919" y="2459595"/>
            <a:ext cx="2771705" cy="75770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104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Deliberate routing for enzyme replacement therapies in lysosomal storage disorders.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38919" y="3238500"/>
            <a:ext cx="2771705" cy="609600"/>
          </a:xfrm>
          <a:prstGeom prst="rect">
            <a:avLst/>
          </a:prstGeom>
          <a:solidFill>
            <a:srgbClr val="FFF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 Same Side Corner Rectangle 42"/>
          <p:cNvSpPr/>
          <p:nvPr/>
        </p:nvSpPr>
        <p:spPr>
          <a:xfrm rot="16200000">
            <a:off x="7967139" y="3510280"/>
            <a:ext cx="609600" cy="660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72265" y="3325491"/>
            <a:ext cx="1316707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93B"/>
                </a:solidFill>
                <a:latin typeface="Lora"/>
              </a:rPr>
              <a:t>Targeting Signal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72265" y="3533784"/>
            <a:ext cx="2612831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6B7280"/>
                </a:solidFill>
                <a:latin typeface="Crimson Text"/>
              </a:rPr>
              <a:t>Mannose-6-phosphate (M6P) receptors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38919" y="3962399"/>
            <a:ext cx="2771705" cy="609600"/>
          </a:xfrm>
          <a:prstGeom prst="rect">
            <a:avLst/>
          </a:prstGeom>
          <a:solidFill>
            <a:srgbClr val="FFF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 Same Side Corner Rectangle 46"/>
          <p:cNvSpPr/>
          <p:nvPr/>
        </p:nvSpPr>
        <p:spPr>
          <a:xfrm rot="16200000">
            <a:off x="7967139" y="4234179"/>
            <a:ext cx="609600" cy="660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372265" y="4049390"/>
            <a:ext cx="1572290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93B"/>
                </a:solidFill>
                <a:latin typeface="Lora"/>
              </a:rPr>
              <a:t>Clinical Application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72265" y="4257684"/>
            <a:ext cx="2077813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Crimson Text"/>
              </a:rPr>
              <a:t>Enzyme replacement therapies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38919" y="4686300"/>
            <a:ext cx="2771705" cy="609600"/>
          </a:xfrm>
          <a:prstGeom prst="rect">
            <a:avLst/>
          </a:prstGeom>
          <a:solidFill>
            <a:srgbClr val="FFF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 Same Side Corner Rectangle 50"/>
          <p:cNvSpPr/>
          <p:nvPr/>
        </p:nvSpPr>
        <p:spPr>
          <a:xfrm rot="16200000">
            <a:off x="7967139" y="4958080"/>
            <a:ext cx="609600" cy="660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372265" y="4773291"/>
            <a:ext cx="1247329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93B"/>
                </a:solidFill>
                <a:latin typeface="Lora"/>
              </a:rPr>
              <a:t>Key Advantage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72265" y="4981584"/>
            <a:ext cx="2330190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Crimson Text"/>
              </a:rPr>
              <a:t>Direct therapeutic enzyme delivery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476" y="548953"/>
            <a:ext cx="1779526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4AF37"/>
                </a:solidFill>
                <a:latin typeface="Cinzel"/>
              </a:rPr>
              <a:t>BIOLOGICAL BARRIERS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476" y="876299"/>
            <a:ext cx="3647983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520"/>
              </a:spcBef>
              <a:spcAft>
                <a:spcPts val="0"/>
              </a:spcAft>
            </a:pPr>
            <a:r>
              <a:rPr sz="2870" b="0">
                <a:solidFill>
                  <a:srgbClr val="1E293B"/>
                </a:solidFill>
                <a:latin typeface="Cormorant Garamond"/>
              </a:rPr>
              <a:t>Governing Processes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476" y="1485900"/>
            <a:ext cx="7619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42702" y="1224995"/>
            <a:ext cx="3896516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Key biological systems affecting targeting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52476" y="1904999"/>
            <a:ext cx="3228894" cy="4286250"/>
          </a:xfrm>
          <a:prstGeom prst="rect">
            <a:avLst/>
          </a:prstGeom>
          <a:solidFill>
            <a:srgbClr val="FFFFFF"/>
          </a:solidFill>
          <a:ln w="3302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257268" y="2278774"/>
            <a:ext cx="342891" cy="3192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14457" y="2254953"/>
            <a:ext cx="1170449" cy="36689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93B"/>
                </a:solidFill>
                <a:latin typeface="Lora"/>
              </a:rPr>
              <a:t>MPS Barrier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7268" y="2773921"/>
            <a:ext cx="2619309" cy="75770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104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Mononuclear Phagocyte System is the primary clearance mechanism for foreign particles.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268" y="3638550"/>
            <a:ext cx="1152496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152" b="0">
                <a:solidFill>
                  <a:srgbClr val="D4AF37"/>
                </a:solidFill>
                <a:latin typeface="Cinzel"/>
              </a:rPr>
              <a:t>80-90%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7268" y="4011290"/>
            <a:ext cx="2900922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Crimson Text"/>
              </a:rPr>
              <a:t>Phagocytic capacity from Kupffer cells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7268" y="5497190"/>
            <a:ext cx="1449179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E293B"/>
                </a:solidFill>
                <a:latin typeface="Lora"/>
              </a:rPr>
              <a:t>Key Components: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7268" y="5686434"/>
            <a:ext cx="2720681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4B5563"/>
                </a:solidFill>
                <a:latin typeface="Crimson Text"/>
              </a:rPr>
              <a:t>Monocytes, Macrophages, Dendritic cells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6162" y="1904999"/>
            <a:ext cx="3228894" cy="42862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90955" y="2369754"/>
            <a:ext cx="342891" cy="2896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48143" y="2331152"/>
            <a:ext cx="2159053" cy="36689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Lora"/>
              </a:rPr>
              <a:t>Complement Activation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0955" y="2964421"/>
            <a:ext cx="2619309" cy="75770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1040"/>
              </a:spcAft>
            </a:pPr>
            <a:r>
              <a:rPr sz="1400" b="0">
                <a:solidFill>
                  <a:srgbClr val="D1D5DB"/>
                </a:solidFill>
                <a:latin typeface="Crimson Text"/>
              </a:rPr>
              <a:t>Immunological barrier triggering Complement Activation-Related Pseudoallergy (CARPA).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0955" y="3829050"/>
            <a:ext cx="171445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152" b="0">
                <a:solidFill>
                  <a:srgbClr val="D4AF37"/>
                </a:solidFill>
                <a:latin typeface="Cinze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0955" y="4201790"/>
            <a:ext cx="1619546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CA3AF"/>
                </a:solidFill>
                <a:latin typeface="Crimson Text"/>
              </a:rPr>
              <a:t>Activation pathways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0955" y="5497190"/>
            <a:ext cx="905825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Lora"/>
              </a:rPr>
              <a:t>Pathways: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90955" y="5686434"/>
            <a:ext cx="1877950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CA3AF"/>
                </a:solidFill>
                <a:latin typeface="Crimson Text"/>
              </a:rPr>
              <a:t>Classical, Alternative, Lectin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10324" y="1904999"/>
            <a:ext cx="3228894" cy="4286250"/>
          </a:xfrm>
          <a:prstGeom prst="rect">
            <a:avLst/>
          </a:prstGeom>
          <a:solidFill>
            <a:srgbClr val="FFFFFF"/>
          </a:solidFill>
          <a:ln w="3302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15117" y="2413766"/>
            <a:ext cx="342891" cy="27786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72305" y="2369251"/>
            <a:ext cx="2342757" cy="36689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93B"/>
                </a:solidFill>
                <a:latin typeface="Lora"/>
              </a:rPr>
              <a:t>Tumor Microenvironment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5117" y="2878696"/>
            <a:ext cx="2619309" cy="75770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104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Exploitable pathophysiological conditions for stimuli-responsive drug release.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15117" y="3657600"/>
            <a:ext cx="1266793" cy="552450"/>
          </a:xfrm>
          <a:prstGeom prst="rect">
            <a:avLst/>
          </a:prstGeom>
          <a:solidFill>
            <a:srgbClr val="FFFEF0"/>
          </a:solidFill>
          <a:ln w="825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00839" y="3741969"/>
            <a:ext cx="641458" cy="2408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293B"/>
                </a:solidFill>
                <a:latin typeface="Lora"/>
              </a:rPr>
              <a:t>Acidic pH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0839" y="3927708"/>
            <a:ext cx="513217" cy="2408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6B7280"/>
                </a:solidFill>
                <a:latin typeface="Crimson Text"/>
              </a:rPr>
              <a:t>6.5-6.8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67633" y="3657600"/>
            <a:ext cx="1266793" cy="552450"/>
          </a:xfrm>
          <a:prstGeom prst="rect">
            <a:avLst/>
          </a:prstGeom>
          <a:solidFill>
            <a:srgbClr val="FFFEF0"/>
          </a:solidFill>
          <a:ln w="825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53356" y="3741969"/>
            <a:ext cx="580544" cy="2408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293B"/>
                </a:solidFill>
                <a:latin typeface="Lora"/>
              </a:rPr>
              <a:t>Hypoxia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53356" y="3927708"/>
            <a:ext cx="905954" cy="2408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rimson Text"/>
              </a:rPr>
              <a:t>pO₂ &lt; 5 mmHg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15117" y="4286250"/>
            <a:ext cx="1266793" cy="552450"/>
          </a:xfrm>
          <a:prstGeom prst="rect">
            <a:avLst/>
          </a:prstGeom>
          <a:solidFill>
            <a:srgbClr val="FFFEF0"/>
          </a:solidFill>
          <a:ln w="825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00839" y="4370620"/>
            <a:ext cx="856260" cy="2408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293B"/>
                </a:solidFill>
                <a:latin typeface="Lora"/>
              </a:rPr>
              <a:t>Elevated ROS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0839" y="4556358"/>
            <a:ext cx="623825" cy="2408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rimson Text"/>
              </a:rPr>
              <a:t>H₂O₂ rich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67633" y="4286250"/>
            <a:ext cx="1266793" cy="552450"/>
          </a:xfrm>
          <a:prstGeom prst="rect">
            <a:avLst/>
          </a:prstGeom>
          <a:solidFill>
            <a:srgbClr val="FFFEF0"/>
          </a:solidFill>
          <a:ln w="825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753356" y="4370620"/>
            <a:ext cx="641458" cy="2408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293B"/>
                </a:solidFill>
                <a:latin typeface="Lora"/>
              </a:rPr>
              <a:t>High GSH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53356" y="4556358"/>
            <a:ext cx="1236172" cy="2408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rimson Text"/>
              </a:rPr>
              <a:t>~10 mM intracellular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5117" y="5500044"/>
            <a:ext cx="1338380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Lora"/>
              </a:rPr>
              <a:t>Targeting Strategy: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15117" y="5686434"/>
            <a:ext cx="2314673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4B5563"/>
                </a:solidFill>
                <a:latin typeface="Crimson Text"/>
              </a:rPr>
              <a:t>Stimuli-responsive release systems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" name="TextBox 2"/>
          <p:cNvSpPr txBox="1"/>
          <p:nvPr/>
        </p:nvSpPr>
        <p:spPr>
          <a:xfrm>
            <a:off x="761980" y="1657350"/>
            <a:ext cx="3352716" cy="11430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2080"/>
              </a:spcAft>
            </a:pPr>
            <a:r>
              <a:rPr sz="3588" b="0">
                <a:solidFill>
                  <a:srgbClr val="FFFEF0"/>
                </a:solidFill>
                <a:latin typeface="Cormorant Garamond"/>
              </a:rPr>
              <a:t>Multidrug</a:t>
            </a:r>
            <a:r>
              <a:rPr sz="1104"/>
              <a:t>
</a:t>
            </a:r>
            <a:r>
              <a:rPr sz="3588" b="0">
                <a:solidFill>
                  <a:srgbClr val="D4AF37"/>
                </a:solidFill>
                <a:latin typeface="Cormorant Garamond"/>
              </a:rPr>
              <a:t>Resistance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3096611"/>
            <a:ext cx="3352716" cy="636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2080"/>
              </a:spcAft>
            </a:pPr>
            <a:r>
              <a:rPr sz="1600" b="0">
                <a:solidFill>
                  <a:srgbClr val="FFFEF0"/>
                </a:solidFill>
                <a:latin typeface="Crimson Text"/>
              </a:rPr>
              <a:t>The cellular efflux barrier undermines even perfectly targeted drug delivery.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4029075"/>
            <a:ext cx="3352716" cy="1171575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 Same Side Corner Rectangle 5"/>
          <p:cNvSpPr/>
          <p:nvPr/>
        </p:nvSpPr>
        <p:spPr>
          <a:xfrm rot="16200000">
            <a:off x="242233" y="4548822"/>
            <a:ext cx="11715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8674" y="4257675"/>
            <a:ext cx="2857428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520"/>
              </a:spcAft>
            </a:pPr>
            <a:r>
              <a:rPr sz="2870" b="0">
                <a:solidFill>
                  <a:srgbClr val="D4AF37"/>
                </a:solidFill>
                <a:latin typeface="Cinzel"/>
              </a:rPr>
              <a:t>10-100×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674" y="4749219"/>
            <a:ext cx="2710935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FFFEF0"/>
                </a:solidFill>
                <a:latin typeface="Lora"/>
              </a:rPr>
              <a:t>Reduction in intracellular drug concentration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8659" y="1348708"/>
            <a:ext cx="2714397" cy="4267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1040"/>
              </a:spcAft>
            </a:pPr>
            <a:r>
              <a:rPr sz="2800" b="1" dirty="0">
                <a:solidFill>
                  <a:srgbClr val="1E293B"/>
                </a:solidFill>
                <a:latin typeface="Cormorant Garamond"/>
              </a:rPr>
              <a:t>ABC Transporters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38659" y="1885950"/>
            <a:ext cx="1828754" cy="1066799"/>
          </a:xfrm>
          <a:prstGeom prst="rect">
            <a:avLst/>
          </a:prstGeom>
          <a:solidFill>
            <a:srgbClr val="FFFFFF"/>
          </a:solidFill>
          <a:ln w="3302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91055" y="2037380"/>
            <a:ext cx="1301382" cy="344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1E293B"/>
                </a:solidFill>
                <a:latin typeface="Lora"/>
              </a:rPr>
              <a:t>P-</a:t>
            </a:r>
            <a:r>
              <a:rPr b="1" dirty="0" err="1">
                <a:solidFill>
                  <a:srgbClr val="1E293B"/>
                </a:solidFill>
                <a:latin typeface="Lora"/>
              </a:rPr>
              <a:t>gp</a:t>
            </a:r>
            <a:r>
              <a:rPr b="1" dirty="0">
                <a:solidFill>
                  <a:srgbClr val="1E293B"/>
                </a:solidFill>
                <a:latin typeface="Lora"/>
              </a:rPr>
              <a:t>/ABCB1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91055" y="2372990"/>
            <a:ext cx="1636089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52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Primary efflux pump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19809" y="1885950"/>
            <a:ext cx="1828754" cy="1066799"/>
          </a:xfrm>
          <a:prstGeom prst="rect">
            <a:avLst/>
          </a:prstGeom>
          <a:solidFill>
            <a:srgbClr val="FFFFFF"/>
          </a:solidFill>
          <a:ln w="3302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205" y="2037380"/>
            <a:ext cx="1439240" cy="344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1E293B"/>
                </a:solidFill>
                <a:latin typeface="Lora"/>
              </a:rPr>
              <a:t>MRP1/ABCC1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205" y="2257574"/>
            <a:ext cx="1652825" cy="51405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520"/>
              </a:spcBef>
              <a:spcAft>
                <a:spcPts val="0"/>
              </a:spcAft>
            </a:pPr>
            <a:r>
              <a:rPr sz="1400" b="0" dirty="0">
                <a:solidFill>
                  <a:srgbClr val="4B5563"/>
                </a:solidFill>
                <a:latin typeface="Crimson Text"/>
              </a:rPr>
              <a:t>Multidrug resistance</a:t>
            </a:r>
            <a:endParaRPr lang="en-US" sz="1400" b="0" dirty="0">
              <a:solidFill>
                <a:srgbClr val="4B5563"/>
              </a:solidFill>
              <a:latin typeface="Crimson Text"/>
            </a:endParaRPr>
          </a:p>
          <a:p>
            <a:pPr algn="l">
              <a:lnSpc>
                <a:spcPts val="1300"/>
              </a:lnSpc>
              <a:spcBef>
                <a:spcPts val="520"/>
              </a:spcBef>
              <a:spcAft>
                <a:spcPts val="0"/>
              </a:spcAft>
            </a:pPr>
            <a:r>
              <a:rPr sz="1400" b="0" dirty="0">
                <a:solidFill>
                  <a:srgbClr val="4B5563"/>
                </a:solidFill>
                <a:latin typeface="Crimson Text"/>
              </a:rPr>
              <a:t> protein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0959" y="1885950"/>
            <a:ext cx="1828754" cy="1066799"/>
          </a:xfrm>
          <a:prstGeom prst="rect">
            <a:avLst/>
          </a:prstGeom>
          <a:solidFill>
            <a:srgbClr val="FFFFFF"/>
          </a:solidFill>
          <a:ln w="3302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53356" y="2037380"/>
            <a:ext cx="1386342" cy="344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1E293B"/>
                </a:solidFill>
                <a:latin typeface="Lora"/>
              </a:rPr>
              <a:t>BCRP/ABCG2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356" y="2384883"/>
            <a:ext cx="1523961" cy="44993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52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Breast cancer resistance protein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38659" y="3257550"/>
            <a:ext cx="5791055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1040"/>
              </a:spcAft>
            </a:pPr>
            <a:r>
              <a:rPr sz="1794" b="1">
                <a:solidFill>
                  <a:srgbClr val="D4AF37"/>
                </a:solidFill>
                <a:latin typeface="Cormorant Garamond"/>
              </a:rPr>
              <a:t>Circumvention Strategies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38659" y="3752849"/>
            <a:ext cx="380990" cy="380999"/>
          </a:xfrm>
          <a:prstGeom prst="roundRect">
            <a:avLst>
              <a:gd name="adj" fmla="val 49995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800579" y="3809999"/>
            <a:ext cx="5714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1E293B"/>
                </a:solidFill>
                <a:latin typeface="Cinze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045" y="3715383"/>
            <a:ext cx="2255746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1E293B"/>
                </a:solidFill>
                <a:latin typeface="Lora"/>
              </a:rPr>
              <a:t>Endocytic Internalization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045" y="3975857"/>
            <a:ext cx="5770939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Nanocarriers bypass membrane transporters; release drug deep in cytoplasm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38659" y="4400550"/>
            <a:ext cx="380990" cy="380999"/>
          </a:xfrm>
          <a:prstGeom prst="roundRect">
            <a:avLst>
              <a:gd name="adj" fmla="val 4999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781530" y="4457700"/>
            <a:ext cx="9524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D4AF37"/>
                </a:solidFill>
                <a:latin typeface="Cinze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045" y="4363084"/>
            <a:ext cx="2626873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93B"/>
                </a:solidFill>
                <a:latin typeface="Lora"/>
              </a:rPr>
              <a:t>Co-delivery of P-gp Inhibitors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045" y="4623557"/>
            <a:ext cx="5355184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Simultaneous delivery ensures pharmacological synergy at cellular level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38659" y="5230491"/>
            <a:ext cx="5541197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Lora"/>
              </a:rPr>
              <a:t> </a:t>
            </a:r>
            <a:r>
              <a:rPr sz="1400" b="1">
                <a:solidFill>
                  <a:srgbClr val="D4AF37"/>
                </a:solidFill>
                <a:latin typeface="Lora"/>
              </a:rPr>
              <a:t>40-50%</a:t>
            </a:r>
            <a:r>
              <a:rPr sz="1400" b="0">
                <a:solidFill>
                  <a:srgbClr val="6B7280"/>
                </a:solidFill>
                <a:latin typeface="Lora"/>
              </a:rPr>
              <a:t> of chemotherapy-resistant cancers overexpress ABC transporters 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476" y="571500"/>
            <a:ext cx="5010024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70" b="0">
                <a:solidFill>
                  <a:srgbClr val="1E293B"/>
                </a:solidFill>
                <a:latin typeface="Cormorant Garamond"/>
              </a:rPr>
              <a:t>Physicochemical Parameters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952476" y="1181099"/>
            <a:ext cx="7619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936822" y="910031"/>
            <a:ext cx="4302396" cy="3516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4B5563"/>
                </a:solidFill>
                <a:latin typeface="Crimson Text"/>
              </a:rPr>
              <a:t>Key determinants of targeting efficiency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476" y="1600200"/>
            <a:ext cx="3276518" cy="2371725"/>
          </a:xfrm>
          <a:prstGeom prst="rect">
            <a:avLst/>
          </a:prstGeom>
          <a:solidFill>
            <a:srgbClr val="FFFFFF"/>
          </a:solidFill>
          <a:ln w="3302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81070" y="1956435"/>
            <a:ext cx="228594" cy="1257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85862" y="1843482"/>
            <a:ext cx="1417183" cy="3516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E293B"/>
                </a:solidFill>
                <a:latin typeface="Lora"/>
              </a:rPr>
              <a:t>Particle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1070" y="2286000"/>
            <a:ext cx="2819329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1794" b="0">
                <a:solidFill>
                  <a:srgbClr val="1E293B"/>
                </a:solidFill>
                <a:latin typeface="Cinzel"/>
              </a:rPr>
              <a:t>50–200 nm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1070" y="2661593"/>
            <a:ext cx="1932260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780"/>
              </a:spcAft>
            </a:pPr>
            <a:r>
              <a:rPr sz="1200" b="0" dirty="0">
                <a:solidFill>
                  <a:srgbClr val="4B5563"/>
                </a:solidFill>
                <a:latin typeface="Crimson Text"/>
              </a:rPr>
              <a:t>Tumor targeting: 50–200 nm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1070" y="2966394"/>
            <a:ext cx="1568699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780"/>
              </a:spcAft>
            </a:pPr>
            <a:r>
              <a:rPr sz="1200" b="0">
                <a:solidFill>
                  <a:srgbClr val="4B5563"/>
                </a:solidFill>
                <a:latin typeface="Crimson Text"/>
              </a:rPr>
              <a:t>BBB crossing: &lt;100 nm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1070" y="3390909"/>
            <a:ext cx="1599027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Lora"/>
              </a:rPr>
              <a:t>&lt;8 nm: Renal clearance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1070" y="3543308"/>
            <a:ext cx="1904496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Lora"/>
              </a:rPr>
              <a:t>&gt;500 nm: MPS phagocytosis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57588" y="1600200"/>
            <a:ext cx="3276518" cy="2371725"/>
          </a:xfrm>
          <a:prstGeom prst="rect">
            <a:avLst/>
          </a:prstGeom>
          <a:solidFill>
            <a:srgbClr val="FFFFFF"/>
          </a:solidFill>
          <a:ln w="3302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6182" y="1930717"/>
            <a:ext cx="228594" cy="1771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90975" y="1843482"/>
            <a:ext cx="1623971" cy="3516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E293B"/>
                </a:solidFill>
                <a:latin typeface="Lora"/>
              </a:rPr>
              <a:t>Zeta Potential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6182" y="2286000"/>
            <a:ext cx="2819329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1794" b="0">
                <a:solidFill>
                  <a:srgbClr val="1E293B"/>
                </a:solidFill>
                <a:latin typeface="Cinzel"/>
              </a:rPr>
              <a:t>−20 to −30 mV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6182" y="2661593"/>
            <a:ext cx="2119683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780"/>
              </a:spcAft>
            </a:pPr>
            <a:r>
              <a:rPr sz="1200" b="0">
                <a:solidFill>
                  <a:srgbClr val="4B5563"/>
                </a:solidFill>
                <a:latin typeface="Crimson Text"/>
              </a:rPr>
              <a:t>Stable anionic or highly cationic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6182" y="3086108"/>
            <a:ext cx="2142766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Lora"/>
              </a:rPr>
              <a:t>−10 to +10 mV: Aggregation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6182" y="3238509"/>
            <a:ext cx="2565382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Lora"/>
              </a:rPr>
              <a:t>Highly cationic: Hemolysis, cytotoxicity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62700" y="1600200"/>
            <a:ext cx="3276518" cy="23717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91295" y="1884045"/>
            <a:ext cx="228594" cy="19430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96087" y="1805381"/>
            <a:ext cx="2486002" cy="3516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Lora"/>
              </a:rPr>
              <a:t>Surface Hydrophilicity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1295" y="2247899"/>
            <a:ext cx="2819329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1794" b="0">
                <a:solidFill>
                  <a:srgbClr val="D4AF37"/>
                </a:solidFill>
                <a:latin typeface="Cinzel"/>
              </a:rPr>
              <a:t>High (PEGylation)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1295" y="2623494"/>
            <a:ext cx="1957908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780"/>
              </a:spcAft>
            </a:pPr>
            <a:r>
              <a:rPr sz="1200" b="0">
                <a:solidFill>
                  <a:srgbClr val="D1D5DB"/>
                </a:solidFill>
                <a:latin typeface="Crimson Text"/>
              </a:rPr>
              <a:t>Hydrophilic steric brush layer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1295" y="3048009"/>
            <a:ext cx="2759794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CA3AF"/>
                </a:solidFill>
                <a:latin typeface="Lora"/>
              </a:rPr>
              <a:t>Hydrophobic surfaces: Rapid opsonization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1295" y="3200408"/>
            <a:ext cx="2219262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CA3AF"/>
                </a:solidFill>
                <a:latin typeface="Lora"/>
              </a:rPr>
              <a:t>Kupffer cell uptake, short half-life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2476" y="4200525"/>
            <a:ext cx="3276518" cy="2066924"/>
          </a:xfrm>
          <a:prstGeom prst="rect">
            <a:avLst/>
          </a:prstGeom>
          <a:solidFill>
            <a:srgbClr val="FFFFFF"/>
          </a:solidFill>
          <a:ln w="3302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81070" y="4522470"/>
            <a:ext cx="228594" cy="19430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85862" y="4443807"/>
            <a:ext cx="2702150" cy="3516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E293B"/>
                </a:solidFill>
                <a:latin typeface="Lora"/>
              </a:rPr>
              <a:t>Encapsulation Efficiency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1070" y="4886325"/>
            <a:ext cx="2819329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1794" b="0">
                <a:solidFill>
                  <a:srgbClr val="1E293B"/>
                </a:solidFill>
                <a:latin typeface="Cinzel"/>
              </a:rPr>
              <a:t>&gt;70%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070" y="5261919"/>
            <a:ext cx="1673792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780"/>
              </a:spcAft>
            </a:pPr>
            <a:r>
              <a:rPr sz="1200" b="0">
                <a:solidFill>
                  <a:srgbClr val="4B5563"/>
                </a:solidFill>
                <a:latin typeface="Crimson Text"/>
              </a:rPr>
              <a:t>Ideally high drug loading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1070" y="5686434"/>
            <a:ext cx="2214645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Lora"/>
              </a:rPr>
              <a:t>Low EE: Dose escalation required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1070" y="5838834"/>
            <a:ext cx="2310825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Lora"/>
              </a:rPr>
              <a:t>Free drug causes off-target toxicity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57588" y="4200525"/>
            <a:ext cx="3276518" cy="2066924"/>
          </a:xfrm>
          <a:prstGeom prst="rect">
            <a:avLst/>
          </a:prstGeom>
          <a:solidFill>
            <a:srgbClr val="FFFFFF"/>
          </a:solidFill>
          <a:ln w="3302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86182" y="4522470"/>
            <a:ext cx="228594" cy="19430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90975" y="4443807"/>
            <a:ext cx="2081275" cy="3516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E293B"/>
                </a:solidFill>
                <a:latin typeface="Lora"/>
              </a:rPr>
              <a:t>Drug Release Rate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86182" y="4886325"/>
            <a:ext cx="2819329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1794" b="0">
                <a:solidFill>
                  <a:srgbClr val="D4AF37"/>
                </a:solidFill>
                <a:latin typeface="Cinzel"/>
              </a:rPr>
              <a:t>Controlled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86182" y="5261919"/>
            <a:ext cx="1889428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780"/>
              </a:spcAft>
            </a:pPr>
            <a:r>
              <a:rPr sz="1200" b="0">
                <a:solidFill>
                  <a:srgbClr val="4B5563"/>
                </a:solidFill>
                <a:latin typeface="Crimson Text"/>
              </a:rPr>
              <a:t>Stimulus-responsive release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86182" y="5686434"/>
            <a:ext cx="2136226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Lora"/>
              </a:rPr>
              <a:t>Burst release: Off-target toxicity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6182" y="5838834"/>
            <a:ext cx="2111925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Lora"/>
              </a:rPr>
              <a:t>Too slow: Subtherapeutic levels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62700" y="4200525"/>
            <a:ext cx="3276518" cy="2066924"/>
          </a:xfrm>
          <a:prstGeom prst="rect">
            <a:avLst/>
          </a:prstGeom>
          <a:solidFill>
            <a:srgbClr val="FFFFFF"/>
          </a:solidFill>
          <a:ln w="3302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191295" y="4508182"/>
            <a:ext cx="228594" cy="22288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496087" y="4443807"/>
            <a:ext cx="1701491" cy="3516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E293B"/>
                </a:solidFill>
                <a:latin typeface="Lora"/>
              </a:rPr>
              <a:t>Ligand Density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295" y="4886325"/>
            <a:ext cx="2819329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1794" b="0">
                <a:solidFill>
                  <a:srgbClr val="1E293B"/>
                </a:solidFill>
                <a:latin typeface="Cinzel"/>
              </a:rPr>
              <a:t>Optimal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91295" y="5261919"/>
            <a:ext cx="1945917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780"/>
              </a:spcAft>
            </a:pPr>
            <a:r>
              <a:rPr sz="1200" b="0">
                <a:solidFill>
                  <a:srgbClr val="4B5563"/>
                </a:solidFill>
                <a:latin typeface="Crimson Text"/>
              </a:rPr>
              <a:t>Not saturating concentration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91295" y="5686434"/>
            <a:ext cx="2817246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Lora"/>
              </a:rPr>
              <a:t>Too high: Steric hindrance between ligands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1295" y="5838834"/>
            <a:ext cx="2648482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Lora"/>
              </a:rPr>
              <a:t>Too low: Insufficient multivalent binding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476" y="560614"/>
            <a:ext cx="5629134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70" b="0">
                <a:solidFill>
                  <a:srgbClr val="1E293B"/>
                </a:solidFill>
                <a:latin typeface="Cormorant Garamond"/>
              </a:rPr>
              <a:t>Pharmacokinetic Consequences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52476" y="1170213"/>
            <a:ext cx="7619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01308" y="899145"/>
            <a:ext cx="3837910" cy="3516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4B5563"/>
                </a:solidFill>
                <a:latin typeface="Crimson Text"/>
              </a:rPr>
              <a:t>How targeting alters PK parameters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476" y="1513113"/>
            <a:ext cx="4990975" cy="2171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 Same Side Corner Rectangle 5"/>
          <p:cNvSpPr/>
          <p:nvPr/>
        </p:nvSpPr>
        <p:spPr>
          <a:xfrm rot="16200000">
            <a:off x="-67334" y="2532923"/>
            <a:ext cx="21717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219169" y="2050800"/>
            <a:ext cx="228594" cy="1628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62060" y="1941994"/>
            <a:ext cx="3064493" cy="38048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E293B"/>
                </a:solidFill>
                <a:latin typeface="Lora"/>
              </a:rPr>
              <a:t>Volume of Distribution (Vd)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169" y="2313214"/>
            <a:ext cx="752456" cy="619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70" b="0">
                <a:solidFill>
                  <a:srgbClr val="1E293B"/>
                </a:solidFill>
                <a:latin typeface="Cinzel"/>
              </a:rPr>
              <a:t>250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9249" y="2527163"/>
            <a:ext cx="224677" cy="324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AF37"/>
                </a:solidFill>
                <a:latin typeface="Lora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66893" y="2541451"/>
            <a:ext cx="1125949" cy="324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4B5563"/>
                </a:solidFill>
                <a:latin typeface="Lora"/>
              </a:rPr>
              <a:t>Reduction in </a:t>
            </a:r>
            <a:r>
              <a:rPr sz="1200" b="0" dirty="0" err="1">
                <a:solidFill>
                  <a:srgbClr val="4B5563"/>
                </a:solidFill>
                <a:latin typeface="Lora"/>
              </a:rPr>
              <a:t>Vd</a:t>
            </a:r>
            <a:endParaRPr sz="1200" b="0" dirty="0">
              <a:solidFill>
                <a:srgbClr val="4B5563"/>
              </a:solidFill>
              <a:latin typeface="Lora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266893" y="2793582"/>
            <a:ext cx="1882631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Crimson Text"/>
              </a:rPr>
              <a:t>Free doxorubicin: ~700 L/kg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6893" y="2984083"/>
            <a:ext cx="1434945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Crimson Text"/>
              </a:rPr>
              <a:t>Liposomal: ~2.8 L/kg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2476" y="3913413"/>
            <a:ext cx="4990975" cy="2171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 Same Side Corner Rectangle 14"/>
          <p:cNvSpPr/>
          <p:nvPr/>
        </p:nvSpPr>
        <p:spPr>
          <a:xfrm rot="16200000">
            <a:off x="-67334" y="4933223"/>
            <a:ext cx="21717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9169" y="4564924"/>
            <a:ext cx="228594" cy="12572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62060" y="4437545"/>
            <a:ext cx="2724464" cy="38048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E293B"/>
                </a:solidFill>
                <a:latin typeface="Lora"/>
              </a:rPr>
              <a:t>Circulation Half-Life (t½)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169" y="4808764"/>
            <a:ext cx="1200119" cy="619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70" b="0">
                <a:solidFill>
                  <a:srgbClr val="D4AF37"/>
                </a:solidFill>
                <a:latin typeface="Cinzel"/>
              </a:rPr>
              <a:t>20-45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76438" y="5022713"/>
            <a:ext cx="339067" cy="324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93B"/>
                </a:solidFill>
                <a:latin typeface="Lora"/>
              </a:rPr>
              <a:t>hrs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5052" y="5037001"/>
            <a:ext cx="1756891" cy="324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Lora"/>
              </a:rPr>
              <a:t>Extended with PEGylation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05052" y="5289133"/>
            <a:ext cx="2793201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Crimson Text"/>
              </a:rPr>
              <a:t>vs. minutes for conventional nanoparticles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8243" y="1513113"/>
            <a:ext cx="4990975" cy="2171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 Same Side Corner Rectangle 22"/>
          <p:cNvSpPr/>
          <p:nvPr/>
        </p:nvSpPr>
        <p:spPr>
          <a:xfrm rot="16200000">
            <a:off x="5228433" y="2532923"/>
            <a:ext cx="21717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4937" y="2156051"/>
            <a:ext cx="228594" cy="14287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857828" y="2037245"/>
            <a:ext cx="2716385" cy="38048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E293B"/>
                </a:solidFill>
                <a:latin typeface="Lora"/>
              </a:rPr>
              <a:t>Area Under Curve (AUC)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4937" y="2408463"/>
            <a:ext cx="1304892" cy="619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70" b="0">
                <a:solidFill>
                  <a:srgbClr val="D4AF37"/>
                </a:solidFill>
                <a:latin typeface="Cinzel"/>
              </a:rPr>
              <a:t>10-100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7453" y="2665638"/>
            <a:ext cx="104772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1E293B"/>
                </a:solidFill>
                <a:latin typeface="Lora"/>
              </a:rPr>
              <a:t>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097" y="2636700"/>
            <a:ext cx="1289840" cy="324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Lora"/>
              </a:rPr>
              <a:t>Higher tumor AUC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5097" y="2888833"/>
            <a:ext cx="2656818" cy="2775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Crimson Text"/>
              </a:rPr>
              <a:t>Compared to equivalent free drug doses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8243" y="3913413"/>
            <a:ext cx="4990975" cy="2171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76838" y="4197259"/>
            <a:ext cx="228594" cy="19430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819729" y="4104169"/>
            <a:ext cx="1736629" cy="38048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Lora"/>
              </a:rPr>
              <a:t>Biodistribution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6838" y="4875076"/>
            <a:ext cx="2259208" cy="324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780"/>
              </a:spcAft>
            </a:pPr>
            <a:r>
              <a:rPr sz="1200" b="0">
                <a:solidFill>
                  <a:srgbClr val="D1D5DB"/>
                </a:solidFill>
                <a:latin typeface="Lora"/>
              </a:rPr>
              <a:t>Successful active targeting shows: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76838" y="5316446"/>
            <a:ext cx="228594" cy="16573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781630" y="5246643"/>
            <a:ext cx="1829603" cy="3053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E7EB"/>
                </a:solidFill>
                <a:latin typeface="Crimson Text"/>
              </a:rPr>
              <a:t>Target organ concentration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648483" y="5316446"/>
            <a:ext cx="228594" cy="16573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953276" y="5246643"/>
            <a:ext cx="1759456" cy="30534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E7EB"/>
                </a:solidFill>
                <a:latin typeface="Crimson Text"/>
              </a:rPr>
              <a:t>Off-target organ exposure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476" y="571500"/>
            <a:ext cx="3467013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70" b="0" dirty="0">
                <a:solidFill>
                  <a:srgbClr val="1E293B"/>
                </a:solidFill>
                <a:latin typeface="Cormorant Garamond"/>
              </a:rPr>
              <a:t>Ideal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952476" y="1181099"/>
            <a:ext cx="7619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67370" y="910031"/>
            <a:ext cx="4171848" cy="3516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4B5563"/>
                </a:solidFill>
                <a:latin typeface="Crimson Text"/>
              </a:rPr>
              <a:t>Essential criteria for clinical translation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476" y="1600200"/>
            <a:ext cx="3276518" cy="1733550"/>
          </a:xfrm>
          <a:prstGeom prst="rect">
            <a:avLst/>
          </a:prstGeom>
          <a:solidFill>
            <a:srgbClr val="FFFFFF"/>
          </a:solidFill>
          <a:ln w="3302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1070" y="1866899"/>
            <a:ext cx="266693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0">
                <a:solidFill>
                  <a:srgbClr val="D4AF37"/>
                </a:solidFill>
                <a:latin typeface="Cinze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62060" y="1885950"/>
            <a:ext cx="1781130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Biocompatibility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1070" y="2354820"/>
            <a:ext cx="2819329" cy="75770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Non-toxic, non-immunogenic, non-pyrogenic, non-thrombogenic in therapeutic concentrations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7588" y="1600200"/>
            <a:ext cx="3276518" cy="1733550"/>
          </a:xfrm>
          <a:prstGeom prst="rect">
            <a:avLst/>
          </a:prstGeom>
          <a:solidFill>
            <a:srgbClr val="FFFFFF"/>
          </a:solidFill>
          <a:ln w="3302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86182" y="1866899"/>
            <a:ext cx="323841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0">
                <a:solidFill>
                  <a:srgbClr val="D4AF37"/>
                </a:solidFill>
                <a:latin typeface="Cinze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4321" y="1885950"/>
            <a:ext cx="1771605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Biodegradability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6182" y="2230995"/>
            <a:ext cx="2819329" cy="75770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Degrade into non-toxic, excretable products upon fulfilling delivery function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62700" y="1600200"/>
            <a:ext cx="3276518" cy="1733550"/>
          </a:xfrm>
          <a:prstGeom prst="rect">
            <a:avLst/>
          </a:prstGeom>
          <a:solidFill>
            <a:srgbClr val="FFFFFF"/>
          </a:solidFill>
          <a:ln w="3302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91295" y="1866899"/>
            <a:ext cx="314317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0">
                <a:solidFill>
                  <a:srgbClr val="D4AF37"/>
                </a:solidFill>
                <a:latin typeface="Cinze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9909" y="1885950"/>
            <a:ext cx="904852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Stability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295" y="2354820"/>
            <a:ext cx="2819329" cy="75770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Maintain structural integrity during storage, circulation, and transit through biological fluids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2476" y="3562349"/>
            <a:ext cx="3276518" cy="1733550"/>
          </a:xfrm>
          <a:prstGeom prst="rect">
            <a:avLst/>
          </a:prstGeom>
          <a:solidFill>
            <a:srgbClr val="FFFFFF"/>
          </a:solidFill>
          <a:ln w="3302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81070" y="3829050"/>
            <a:ext cx="333366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0">
                <a:solidFill>
                  <a:srgbClr val="D4AF37"/>
                </a:solidFill>
                <a:latin typeface="Cinzel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8734" y="3848099"/>
            <a:ext cx="1904952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Target Specificity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1070" y="4193145"/>
            <a:ext cx="2819329" cy="75770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High selectivity for pathological tissue with minimal interaction with healthy cells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57588" y="3562349"/>
            <a:ext cx="3276518" cy="17335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86182" y="3790949"/>
            <a:ext cx="314317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0">
                <a:solidFill>
                  <a:srgbClr val="D4AF37"/>
                </a:solidFill>
                <a:latin typeface="Cinzel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4797" y="3809999"/>
            <a:ext cx="2028774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Lora"/>
              </a:rPr>
              <a:t>Controlled Release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86182" y="4169867"/>
            <a:ext cx="2819329" cy="97571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1D5DB"/>
                </a:solidFill>
                <a:latin typeface="Crimson Text"/>
              </a:rPr>
              <a:t>Drug release at target site at rate and duration maintaining therapeutic concentration without toxic peaks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62700" y="3562349"/>
            <a:ext cx="3276518" cy="1733550"/>
          </a:xfrm>
          <a:prstGeom prst="rect">
            <a:avLst/>
          </a:prstGeom>
          <a:solidFill>
            <a:srgbClr val="FFFFFF"/>
          </a:solidFill>
          <a:ln w="3302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91295" y="3829050"/>
            <a:ext cx="333366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0">
                <a:solidFill>
                  <a:srgbClr val="D4AF37"/>
                </a:solidFill>
                <a:latin typeface="Cinzel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8959" y="3848099"/>
            <a:ext cx="1123921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Scalability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1295" y="4207966"/>
            <a:ext cx="2819329" cy="97571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Manufacturing process scalable with consistent particle size distribution, drug loading, and surface functionalization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2476" y="5524499"/>
            <a:ext cx="10286742" cy="10667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 Same Side Corner Rectangle 29"/>
          <p:cNvSpPr/>
          <p:nvPr/>
        </p:nvSpPr>
        <p:spPr>
          <a:xfrm rot="16200000">
            <a:off x="485117" y="5991858"/>
            <a:ext cx="10667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19169" y="5886450"/>
            <a:ext cx="304792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794" b="0">
                <a:solidFill>
                  <a:srgbClr val="D4AF37"/>
                </a:solidFill>
                <a:latin typeface="Cinzel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38259" y="5753099"/>
            <a:ext cx="2476438" cy="609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E293B"/>
                </a:solidFill>
                <a:latin typeface="Lora"/>
              </a:rPr>
              <a:t>Adequate Drug Payload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291" y="5788049"/>
            <a:ext cx="6667333" cy="5397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Sufficient drug encapsulation to achieve therapeutic doses — particularly challenging for macromolecular carriers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476" y="571500"/>
            <a:ext cx="5410064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70" b="0" dirty="0">
                <a:solidFill>
                  <a:srgbClr val="1E293B"/>
                </a:solidFill>
                <a:latin typeface="Cormorant Garamond"/>
              </a:rPr>
              <a:t>Clinically Approved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52476" y="1181099"/>
            <a:ext cx="7619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55141" y="903266"/>
            <a:ext cx="3884077" cy="36516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dirty="0">
                <a:solidFill>
                  <a:srgbClr val="4B5563"/>
                </a:solidFill>
                <a:latin typeface="Crimson Text"/>
              </a:rPr>
              <a:t>Translational proof of concept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476" y="1600200"/>
            <a:ext cx="1933526" cy="4572000"/>
          </a:xfrm>
          <a:prstGeom prst="rect">
            <a:avLst/>
          </a:prstGeom>
          <a:solidFill>
            <a:srgbClr val="FFFFFF"/>
          </a:solidFill>
          <a:ln w="3302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752556" y="1886278"/>
            <a:ext cx="342891" cy="2660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2971" y="2323130"/>
            <a:ext cx="747449" cy="344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520"/>
              </a:spcAft>
            </a:pPr>
            <a:r>
              <a:rPr b="1" dirty="0" err="1">
                <a:solidFill>
                  <a:srgbClr val="1E293B"/>
                </a:solidFill>
                <a:latin typeface="Lora"/>
              </a:rPr>
              <a:t>Doxil</a:t>
            </a:r>
            <a:r>
              <a:rPr b="1" dirty="0">
                <a:solidFill>
                  <a:srgbClr val="1E293B"/>
                </a:solidFill>
                <a:latin typeface="Lora"/>
              </a:rPr>
              <a:t>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2971" y="2658739"/>
            <a:ext cx="1022652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780"/>
              </a:spcAft>
            </a:pPr>
            <a:r>
              <a:rPr sz="1400" b="0" dirty="0">
                <a:solidFill>
                  <a:srgbClr val="4B5563"/>
                </a:solidFill>
                <a:latin typeface="Crimson Text"/>
              </a:rPr>
              <a:t>Doxorubicin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2971" y="3019424"/>
            <a:ext cx="1409664" cy="228600"/>
          </a:xfrm>
          <a:prstGeom prst="roundRect">
            <a:avLst>
              <a:gd name="adj" fmla="val 3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2971" y="3018083"/>
            <a:ext cx="1409664" cy="23128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 dirty="0">
                <a:solidFill>
                  <a:srgbClr val="FFFFFF"/>
                </a:solidFill>
                <a:latin typeface="Apple Color Emoji"/>
              </a:rPr>
              <a:t>Passive EPR + Stealth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2971" y="3250588"/>
            <a:ext cx="1646476" cy="37587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6B7280"/>
                </a:solidFill>
                <a:latin typeface="Crimson Text"/>
              </a:rPr>
              <a:t>Ovarian cancer, Kaposi's</a:t>
            </a:r>
            <a:endParaRPr lang="en-US" sz="1200" b="0" dirty="0">
              <a:solidFill>
                <a:srgbClr val="6B7280"/>
              </a:solidFill>
              <a:latin typeface="Crimson Text"/>
            </a:endParaRP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6B7280"/>
                </a:solidFill>
                <a:latin typeface="Crimson Text"/>
              </a:rPr>
              <a:t> sarcoma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2971" y="5781684"/>
            <a:ext cx="1390958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9CA3AF"/>
                </a:solidFill>
                <a:latin typeface="Lora"/>
              </a:rPr>
              <a:t>PEGylated liposome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8399" y="1600200"/>
            <a:ext cx="1933526" cy="4572000"/>
          </a:xfrm>
          <a:prstGeom prst="rect">
            <a:avLst/>
          </a:prstGeom>
          <a:solidFill>
            <a:srgbClr val="FFFFFF"/>
          </a:solidFill>
          <a:ln w="3302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38479" y="1898102"/>
            <a:ext cx="342891" cy="24239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228894" y="2323130"/>
            <a:ext cx="1170898" cy="344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1E293B"/>
                </a:solidFill>
                <a:latin typeface="Lora"/>
              </a:rPr>
              <a:t>Abraxane®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8894" y="2658739"/>
            <a:ext cx="830997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78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Paclitaxel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28894" y="3019424"/>
            <a:ext cx="1104872" cy="228600"/>
          </a:xfrm>
          <a:prstGeom prst="roundRect">
            <a:avLst>
              <a:gd name="adj" fmla="val 33333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28894" y="3019424"/>
            <a:ext cx="1104872" cy="2286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1E293B"/>
                </a:solidFill>
                <a:latin typeface="Apple Color Emoji"/>
              </a:rPr>
              <a:t>Passive + SPARC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8894" y="3250588"/>
            <a:ext cx="1612173" cy="37587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6B7280"/>
                </a:solidFill>
                <a:latin typeface="Crimson Text"/>
              </a:rPr>
              <a:t>Breast, lung, pancreatic</a:t>
            </a:r>
            <a:endParaRPr lang="en-US" sz="1200" b="0" dirty="0">
              <a:solidFill>
                <a:srgbClr val="6B7280"/>
              </a:solidFill>
              <a:latin typeface="Crimson Text"/>
            </a:endParaRP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6B7280"/>
                </a:solidFill>
                <a:latin typeface="Crimson Text"/>
              </a:rPr>
              <a:t>cancer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28894" y="5781684"/>
            <a:ext cx="1555169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CA3AF"/>
                </a:solidFill>
                <a:latin typeface="Lora"/>
              </a:rPr>
              <a:t>Albumin nanoparticles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4321" y="1600200"/>
            <a:ext cx="1933526" cy="4572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24401" y="1831920"/>
            <a:ext cx="342891" cy="29855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314817" y="2285031"/>
            <a:ext cx="1000787" cy="344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Lora"/>
              </a:rPr>
              <a:t>Kadcyla®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4817" y="2620640"/>
            <a:ext cx="1638718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780"/>
              </a:spcAft>
            </a:pPr>
            <a:r>
              <a:rPr sz="1400" b="0">
                <a:solidFill>
                  <a:srgbClr val="D1D5DB"/>
                </a:solidFill>
                <a:latin typeface="Crimson Text"/>
              </a:rPr>
              <a:t>DM1 (maytansinoid)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14817" y="2981325"/>
            <a:ext cx="857228" cy="228600"/>
          </a:xfrm>
          <a:prstGeom prst="roundRect">
            <a:avLst>
              <a:gd name="adj" fmla="val 33333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14817" y="2981325"/>
            <a:ext cx="85722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1E293B"/>
                </a:solidFill>
                <a:latin typeface="Apple Color Emoji"/>
              </a:rPr>
              <a:t>Active HER2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14817" y="3276609"/>
            <a:ext cx="1434688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CA3AF"/>
                </a:solidFill>
                <a:latin typeface="Crimson Text"/>
              </a:rPr>
              <a:t>HER2+ breast cancer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2420" y="5769604"/>
            <a:ext cx="1692386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9CA3AF"/>
                </a:solidFill>
                <a:latin typeface="Lora"/>
              </a:rPr>
              <a:t>Antibody-drug conjugate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19769" y="1600200"/>
            <a:ext cx="1933526" cy="4572000"/>
          </a:xfrm>
          <a:prstGeom prst="rect">
            <a:avLst/>
          </a:prstGeom>
          <a:solidFill>
            <a:srgbClr val="FFFFFF"/>
          </a:solidFill>
          <a:ln w="3302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10324" y="1880366"/>
            <a:ext cx="342891" cy="27786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410264" y="2323130"/>
            <a:ext cx="1443344" cy="344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1E293B"/>
                </a:solidFill>
                <a:latin typeface="Lora"/>
              </a:rPr>
              <a:t>DaunoXome®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10264" y="2658739"/>
            <a:ext cx="1133580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78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Daunorubicin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10264" y="3019424"/>
            <a:ext cx="828654" cy="228600"/>
          </a:xfrm>
          <a:prstGeom prst="roundRect">
            <a:avLst>
              <a:gd name="adj" fmla="val 3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10264" y="3019424"/>
            <a:ext cx="82865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FFFFFF"/>
                </a:solidFill>
                <a:latin typeface="Apple Color Emoji"/>
              </a:rPr>
              <a:t>Passive EPR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10264" y="3314708"/>
            <a:ext cx="1215654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Crimson Text"/>
              </a:rPr>
              <a:t>Kaposi's sarcoma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82568" y="5769604"/>
            <a:ext cx="1698735" cy="247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9CA3AF"/>
                </a:solidFill>
                <a:latin typeface="Lora"/>
              </a:rPr>
              <a:t>Non-PEGylated liposome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05692" y="1600200"/>
            <a:ext cx="1933526" cy="4572000"/>
          </a:xfrm>
          <a:prstGeom prst="rect">
            <a:avLst/>
          </a:prstGeom>
          <a:solidFill>
            <a:srgbClr val="FFFFFF"/>
          </a:solidFill>
          <a:ln w="3302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96247" y="1992166"/>
            <a:ext cx="342891" cy="5426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496187" y="2323130"/>
            <a:ext cx="1138773" cy="344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1E293B"/>
                </a:solidFill>
                <a:latin typeface="Lora"/>
              </a:rPr>
              <a:t>Onpattro®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6187" y="2658739"/>
            <a:ext cx="577338" cy="28321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780"/>
              </a:spcAft>
            </a:pPr>
            <a:r>
              <a:rPr sz="1400" b="0">
                <a:solidFill>
                  <a:srgbClr val="4B5563"/>
                </a:solidFill>
                <a:latin typeface="Crimson Text"/>
              </a:rPr>
              <a:t>siRNA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496187" y="3019424"/>
            <a:ext cx="962000" cy="228600"/>
          </a:xfrm>
          <a:prstGeom prst="roundRect">
            <a:avLst>
              <a:gd name="adj" fmla="val 33333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496187" y="3019424"/>
            <a:ext cx="96200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1E293B"/>
                </a:solidFill>
                <a:latin typeface="Apple Color Emoji"/>
              </a:rPr>
              <a:t>Active GalNAc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96187" y="3250588"/>
            <a:ext cx="1194238" cy="37587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6B7280"/>
                </a:solidFill>
                <a:latin typeface="Crimson Text"/>
              </a:rPr>
              <a:t>Hereditary ATTR </a:t>
            </a:r>
            <a:endParaRPr lang="en-US" sz="1200" b="0" dirty="0">
              <a:solidFill>
                <a:srgbClr val="6B7280"/>
              </a:solidFill>
              <a:latin typeface="Crimson Text"/>
            </a:endParaRPr>
          </a:p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6B7280"/>
                </a:solidFill>
                <a:latin typeface="Crimson Text"/>
              </a:rPr>
              <a:t>amyloidosis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96187" y="5641364"/>
            <a:ext cx="1552536" cy="37587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CA3AF"/>
                </a:solidFill>
                <a:latin typeface="Lora"/>
              </a:rPr>
              <a:t>First FDA-approved siRNA (2018)</a:t>
            </a:r>
          </a:p>
        </p:txBody>
      </p:sp>
      <p:pic>
        <p:nvPicPr>
          <p:cNvPr id="45" name="Picture 44" descr="image.png">
            <a:extLst>
              <a:ext uri="{FF2B5EF4-FFF2-40B4-BE49-F238E27FC236}">
                <a16:creationId xmlns:a16="http://schemas.microsoft.com/office/drawing/2014/main" id="{AD71C3C8-3013-60E5-6DC7-071F742B10A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917163" y="1889282"/>
            <a:ext cx="342891" cy="26604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476" y="571500"/>
            <a:ext cx="5762480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70" b="0" dirty="0">
                <a:solidFill>
                  <a:srgbClr val="1E293B"/>
                </a:solidFill>
                <a:latin typeface="Cormorant Garamond"/>
              </a:rPr>
              <a:t>Limitations &amp; Future Directions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952476" y="1181099"/>
            <a:ext cx="7619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528458" y="910031"/>
            <a:ext cx="3710760" cy="35163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4B5563"/>
                </a:solidFill>
                <a:latin typeface="Crimson Text"/>
              </a:rPr>
              <a:t>Challenges and emerging frontiers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943" y="1600200"/>
            <a:ext cx="4990975" cy="4572000"/>
          </a:xfrm>
          <a:prstGeom prst="rect">
            <a:avLst/>
          </a:prstGeom>
          <a:solidFill>
            <a:srgbClr val="FFFFFF"/>
          </a:solidFill>
          <a:ln w="3302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81070" y="1921717"/>
            <a:ext cx="285742" cy="2332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81110" y="1848106"/>
            <a:ext cx="2563459" cy="38048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E293B"/>
                </a:solidFill>
                <a:latin typeface="Lora"/>
              </a:rPr>
              <a:t>Unresolved Challenges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1070" y="2476499"/>
            <a:ext cx="304792" cy="304800"/>
          </a:xfrm>
          <a:prstGeom prst="roundRect">
            <a:avLst>
              <a:gd name="adj" fmla="val 62493750"/>
            </a:avLst>
          </a:prstGeom>
          <a:solidFill>
            <a:srgbClr val="FFFEF0"/>
          </a:solidFill>
          <a:ln w="825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14417" y="2533649"/>
            <a:ext cx="47623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1E293B"/>
                </a:solidFill>
                <a:latin typeface="Cinze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159" y="2394708"/>
            <a:ext cx="3747436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4AF37"/>
                </a:solidFill>
                <a:latin typeface="Crimson Text"/>
              </a:rPr>
              <a:t>Heterogeneous EPR effect</a:t>
            </a:r>
            <a:r>
              <a:rPr sz="1400" b="0">
                <a:solidFill>
                  <a:srgbClr val="374151"/>
                </a:solidFill>
                <a:latin typeface="Crimson Text"/>
              </a:rPr>
              <a:t> in human solid tumors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1070" y="2971800"/>
            <a:ext cx="304792" cy="304800"/>
          </a:xfrm>
          <a:prstGeom prst="roundRect">
            <a:avLst>
              <a:gd name="adj" fmla="val 62493750"/>
            </a:avLst>
          </a:prstGeom>
          <a:solidFill>
            <a:srgbClr val="FFFEF0"/>
          </a:solidFill>
          <a:ln w="825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95367" y="3028950"/>
            <a:ext cx="7619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1E293B"/>
                </a:solidFill>
                <a:latin typeface="Cinze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159" y="2890007"/>
            <a:ext cx="3729804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D4AF37"/>
                </a:solidFill>
                <a:latin typeface="Crimson Text"/>
              </a:rPr>
              <a:t>Protein corona</a:t>
            </a:r>
            <a:r>
              <a:rPr sz="1400" b="0" dirty="0">
                <a:solidFill>
                  <a:srgbClr val="374151"/>
                </a:solidFill>
                <a:latin typeface="Crimson Text"/>
              </a:rPr>
              <a:t> alters surface identity &amp; targeting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1070" y="3467100"/>
            <a:ext cx="304792" cy="304800"/>
          </a:xfrm>
          <a:prstGeom prst="roundRect">
            <a:avLst>
              <a:gd name="adj" fmla="val 62493750"/>
            </a:avLst>
          </a:prstGeom>
          <a:solidFill>
            <a:srgbClr val="FFFEF0"/>
          </a:solidFill>
          <a:ln w="825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95367" y="3524250"/>
            <a:ext cx="66673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1E293B"/>
                </a:solidFill>
                <a:latin typeface="Cinze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159" y="3385308"/>
            <a:ext cx="3636893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4AF37"/>
                </a:solidFill>
                <a:latin typeface="Crimson Text"/>
              </a:rPr>
              <a:t>Scale-up challenges</a:t>
            </a:r>
            <a:r>
              <a:rPr sz="1400" b="0">
                <a:solidFill>
                  <a:srgbClr val="374151"/>
                </a:solidFill>
                <a:latin typeface="Crimson Text"/>
              </a:rPr>
              <a:t> &amp; batch-to-batch variability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1070" y="3962399"/>
            <a:ext cx="304792" cy="304800"/>
          </a:xfrm>
          <a:prstGeom prst="roundRect">
            <a:avLst>
              <a:gd name="adj" fmla="val 62493750"/>
            </a:avLst>
          </a:prstGeom>
          <a:solidFill>
            <a:srgbClr val="FFFEF0"/>
          </a:solidFill>
          <a:ln w="825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5367" y="4019549"/>
            <a:ext cx="7619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1E293B"/>
                </a:solidFill>
                <a:latin typeface="Cinze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159" y="3880607"/>
            <a:ext cx="4173771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D4AF37"/>
                </a:solidFill>
                <a:latin typeface="Crimson Text"/>
              </a:rPr>
              <a:t>Anti-PEG antibodies</a:t>
            </a:r>
            <a:r>
              <a:rPr sz="1400" b="0" dirty="0">
                <a:solidFill>
                  <a:srgbClr val="374151"/>
                </a:solidFill>
                <a:latin typeface="Crimson Text"/>
              </a:rPr>
              <a:t> cause accelerated blood clearance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8243" y="1600200"/>
            <a:ext cx="4990975" cy="4572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76838" y="1877785"/>
            <a:ext cx="285742" cy="244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876878" y="1810005"/>
            <a:ext cx="2151038" cy="38048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Lora"/>
              </a:rPr>
              <a:t>Emerging Frontiers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6838" y="2438400"/>
            <a:ext cx="304792" cy="304800"/>
          </a:xfrm>
          <a:prstGeom prst="roundRect">
            <a:avLst>
              <a:gd name="adj" fmla="val 6249375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10184" y="2495550"/>
            <a:ext cx="47623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1E293B"/>
                </a:solidFill>
                <a:latin typeface="Cinze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5927" y="2356608"/>
            <a:ext cx="3862724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4AF37"/>
                </a:solidFill>
                <a:latin typeface="Crimson Text"/>
              </a:rPr>
              <a:t>Personalized targeting</a:t>
            </a:r>
            <a:r>
              <a:rPr sz="1400" b="0">
                <a:solidFill>
                  <a:srgbClr val="D1D5DB"/>
                </a:solidFill>
                <a:latin typeface="Crimson Text"/>
              </a:rPr>
              <a:t> via patient-specific profiling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76838" y="2933699"/>
            <a:ext cx="304792" cy="304800"/>
          </a:xfrm>
          <a:prstGeom prst="roundRect">
            <a:avLst>
              <a:gd name="adj" fmla="val 6249375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91135" y="2990849"/>
            <a:ext cx="7619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1E293B"/>
                </a:solidFill>
                <a:latin typeface="Cinzel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5927" y="2851908"/>
            <a:ext cx="3838680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4AF37"/>
                </a:solidFill>
                <a:latin typeface="Crimson Text"/>
              </a:rPr>
              <a:t>Exosome-based delivery</a:t>
            </a:r>
            <a:r>
              <a:rPr sz="1400" b="0">
                <a:solidFill>
                  <a:srgbClr val="D1D5DB"/>
                </a:solidFill>
                <a:latin typeface="Crimson Text"/>
              </a:rPr>
              <a:t> with low immunogenicity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6838" y="3429000"/>
            <a:ext cx="304792" cy="304800"/>
          </a:xfrm>
          <a:prstGeom prst="roundRect">
            <a:avLst>
              <a:gd name="adj" fmla="val 6249375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91135" y="3486150"/>
            <a:ext cx="66673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1E293B"/>
                </a:solidFill>
                <a:latin typeface="Cinze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5927" y="3347207"/>
            <a:ext cx="3618235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4AF37"/>
                </a:solidFill>
                <a:latin typeface="Crimson Text"/>
              </a:rPr>
              <a:t>Multi-trigger systems</a:t>
            </a:r>
            <a:r>
              <a:rPr sz="1400" b="0">
                <a:solidFill>
                  <a:srgbClr val="D1D5DB"/>
                </a:solidFill>
                <a:latin typeface="Crimson Text"/>
              </a:rPr>
              <a:t> requiring multiple stimuli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76838" y="3924299"/>
            <a:ext cx="304792" cy="304800"/>
          </a:xfrm>
          <a:prstGeom prst="roundRect">
            <a:avLst>
              <a:gd name="adj" fmla="val 6249375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91135" y="3981449"/>
            <a:ext cx="7619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1E293B"/>
                </a:solidFill>
                <a:latin typeface="Cinze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95927" y="3842508"/>
            <a:ext cx="3752694" cy="31598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4AF37"/>
                </a:solidFill>
                <a:latin typeface="Crimson Text"/>
              </a:rPr>
              <a:t>AI in targeting design</a:t>
            </a:r>
            <a:r>
              <a:rPr sz="1400" b="0">
                <a:solidFill>
                  <a:srgbClr val="D1D5DB"/>
                </a:solidFill>
                <a:latin typeface="Crimson Text"/>
              </a:rPr>
              <a:t> for rational ligand selection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8FAE03D1-8A22-3D8C-F36D-2EFCD327FA71}"/>
              </a:ext>
            </a:extLst>
          </p:cNvPr>
          <p:cNvGrpSpPr/>
          <p:nvPr/>
        </p:nvGrpSpPr>
        <p:grpSpPr>
          <a:xfrm>
            <a:off x="788810" y="1371598"/>
            <a:ext cx="11146393" cy="5320749"/>
            <a:chOff x="820320" y="489856"/>
            <a:chExt cx="10119823" cy="583474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BC57EF6-2AAE-D45B-6F6E-F755AD5748DE}"/>
                </a:ext>
              </a:extLst>
            </p:cNvPr>
            <p:cNvSpPr/>
            <p:nvPr/>
          </p:nvSpPr>
          <p:spPr>
            <a:xfrm>
              <a:off x="952476" y="489857"/>
              <a:ext cx="9987667" cy="58347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Jain NK. Controlled and novel drug delivery. 1st ed. New Delhi: CBS Publishers &amp; Distributors; 1997.</a:t>
              </a:r>
              <a:endParaRPr dirty="0"/>
            </a:p>
          </p:txBody>
        </p:sp>
        <p:sp>
          <p:nvSpPr>
            <p:cNvPr id="3" name="Round Same Side Corner Rectangle 26">
              <a:extLst>
                <a:ext uri="{FF2B5EF4-FFF2-40B4-BE49-F238E27FC236}">
                  <a16:creationId xmlns:a16="http://schemas.microsoft.com/office/drawing/2014/main" id="{82FCC44C-7BF6-9134-CF91-23C34A33A3A3}"/>
                </a:ext>
              </a:extLst>
            </p:cNvPr>
            <p:cNvSpPr/>
            <p:nvPr/>
          </p:nvSpPr>
          <p:spPr>
            <a:xfrm rot="16200000">
              <a:off x="-1964896" y="3275072"/>
              <a:ext cx="5834743" cy="264311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E293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solidFill>
                  <a:srgbClr val="FF0000"/>
                </a:solidFill>
                <a:highlight>
                  <a:srgbClr val="FFFF00"/>
                </a:highlight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97BA331B-9D9C-45E9-0E8D-5A5F9578E61D}"/>
              </a:ext>
            </a:extLst>
          </p:cNvPr>
          <p:cNvSpPr/>
          <p:nvPr/>
        </p:nvSpPr>
        <p:spPr>
          <a:xfrm>
            <a:off x="820318" y="1845364"/>
            <a:ext cx="132157" cy="4846983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E0B164-FFFF-EFB6-3DF8-51E8693EF2C1}"/>
              </a:ext>
            </a:extLst>
          </p:cNvPr>
          <p:cNvSpPr txBox="1"/>
          <p:nvPr/>
        </p:nvSpPr>
        <p:spPr>
          <a:xfrm>
            <a:off x="952476" y="545928"/>
            <a:ext cx="1872885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870" dirty="0">
                <a:solidFill>
                  <a:srgbClr val="1E293B"/>
                </a:solidFill>
                <a:latin typeface="Cormorant Garamond"/>
              </a:rPr>
              <a:t>References </a:t>
            </a:r>
            <a:endParaRPr sz="2870" b="0" dirty="0">
              <a:solidFill>
                <a:srgbClr val="1E293B"/>
              </a:solidFill>
              <a:latin typeface="Cormorant Garamond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EDB0EE0-8C89-2498-BD21-B222349C09A5}"/>
              </a:ext>
            </a:extLst>
          </p:cNvPr>
          <p:cNvSpPr/>
          <p:nvPr/>
        </p:nvSpPr>
        <p:spPr>
          <a:xfrm>
            <a:off x="952476" y="1181099"/>
            <a:ext cx="7619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02BD5-E5A3-1A55-4D44-D79E1BCD6D1F}"/>
              </a:ext>
            </a:extLst>
          </p:cNvPr>
          <p:cNvSpPr txBox="1"/>
          <p:nvPr/>
        </p:nvSpPr>
        <p:spPr>
          <a:xfrm>
            <a:off x="1414911" y="1910867"/>
            <a:ext cx="936217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rimson Text"/>
              </a:rPr>
              <a:t>Jain NK. Controlled and novel drug delivery. 1st ed. New Delhi: CBS Publishers &amp; Distributors; 1997.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rimson Text"/>
              </a:rPr>
              <a:t>Vyas SP, Khar RK. Controlled drug delivery: concepts and advances. New Delhi: Vallabh Prakashan; 2002.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rimson Text"/>
              </a:rPr>
              <a:t>Chien YW. Novel drug delivery systems. 2nd ed. New York: Marcel Dekker; 1992.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rimson Text"/>
              </a:rPr>
              <a:t>Allen TM, Cullis PR. Drug delivery systems: entering the mainstream. Science. 2004;303(5665):1818-22.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Crimson Text"/>
              </a:rPr>
              <a:t>ain</a:t>
            </a:r>
            <a:r>
              <a:rPr lang="en-US" sz="2000" dirty="0">
                <a:latin typeface="Crimson Text"/>
              </a:rPr>
              <a:t> RK, </a:t>
            </a:r>
            <a:r>
              <a:rPr lang="en-US" sz="2000" dirty="0" err="1">
                <a:latin typeface="Crimson Text"/>
              </a:rPr>
              <a:t>Stylianopoulos</a:t>
            </a:r>
            <a:r>
              <a:rPr lang="en-US" sz="2000" dirty="0">
                <a:latin typeface="Crimson Text"/>
              </a:rPr>
              <a:t> T. Delivering nanomedicine to solid tumors. Nat Rev Clin Oncol. 2010;7(11):653-64.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Crimson Text"/>
              </a:rPr>
              <a:t>Torchilin</a:t>
            </a:r>
            <a:r>
              <a:rPr lang="en-US" sz="2000" dirty="0">
                <a:latin typeface="Crimson Text"/>
              </a:rPr>
              <a:t> VP. Multifunctional, stimuli-sensitive nanoparticulate systems for drug delivery. Nat Rev Drug Discovery. 2014;13(11):813-27.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rimson Text"/>
              </a:rPr>
              <a:t>Matsumura Y, Maeda H. A new concept for macromolecular therapeutics in cancer chemotherapy: mechanism of </a:t>
            </a:r>
            <a:r>
              <a:rPr lang="en-US" sz="2000" dirty="0" err="1">
                <a:latin typeface="Crimson Text"/>
              </a:rPr>
              <a:t>tumoritropic</a:t>
            </a:r>
            <a:r>
              <a:rPr lang="en-US" sz="2000" dirty="0">
                <a:latin typeface="Crimson Text"/>
              </a:rPr>
              <a:t> accumulation of proteins and the antitumor agent </a:t>
            </a:r>
            <a:r>
              <a:rPr lang="en-US" sz="2000" dirty="0" err="1">
                <a:latin typeface="Crimson Text"/>
              </a:rPr>
              <a:t>smancs</a:t>
            </a:r>
            <a:r>
              <a:rPr lang="en-US" sz="2000" dirty="0">
                <a:latin typeface="Crimson Text"/>
              </a:rPr>
              <a:t>. Cancer Res. 1986;46(12):6387-92.</a:t>
            </a:r>
          </a:p>
        </p:txBody>
      </p:sp>
    </p:spTree>
    <p:extLst>
      <p:ext uri="{BB962C8B-B14F-4D97-AF65-F5344CB8AC3E}">
        <p14:creationId xmlns:p14="http://schemas.microsoft.com/office/powerpoint/2010/main" val="28539207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1799"/>
            <a:ext cx="12191695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744084" y="1161336"/>
            <a:ext cx="2713050" cy="7253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680"/>
              </a:lnSpc>
              <a:spcBef>
                <a:spcPts val="0"/>
              </a:spcBef>
              <a:spcAft>
                <a:spcPts val="2080"/>
              </a:spcAft>
            </a:pPr>
            <a:r>
              <a:rPr sz="4800" b="0" dirty="0">
                <a:solidFill>
                  <a:srgbClr val="1E293B"/>
                </a:solidFill>
                <a:latin typeface="Playfair Display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95527" y="2010186"/>
            <a:ext cx="6400639" cy="93262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3120"/>
              </a:spcAft>
            </a:pPr>
            <a:r>
              <a:rPr sz="2400" b="0">
                <a:solidFill>
                  <a:srgbClr val="4B5563"/>
                </a:solidFill>
                <a:latin typeface="Crimson Text"/>
              </a:rPr>
              <a:t>"Targeted drug delivery is fundamentally a biological problem masquerading as a pharmaceutical one."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32170" y="3666155"/>
            <a:ext cx="1068369" cy="344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82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1E293B"/>
                </a:solidFill>
                <a:latin typeface="Lora"/>
              </a:rPr>
              <a:t>Presenter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2611" y="3999623"/>
            <a:ext cx="1797928" cy="32560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rgbClr val="6B7280"/>
                </a:solidFill>
                <a:latin typeface="Crimson Text"/>
              </a:rPr>
              <a:t>Tushar Mathapati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639" y="3666155"/>
            <a:ext cx="802143" cy="34483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1E293B"/>
                </a:solidFill>
                <a:latin typeface="Lora"/>
              </a:rPr>
              <a:t>Course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639" y="3999623"/>
            <a:ext cx="3727239" cy="32560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b="0" dirty="0">
                <a:solidFill>
                  <a:srgbClr val="6B7280"/>
                </a:solidFill>
                <a:latin typeface="Crimson Text"/>
              </a:rPr>
              <a:t>MPH 201T – Molecular Pharmaceutics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427185" y="4876800"/>
            <a:ext cx="1337322" cy="9326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2138</Words>
  <Application>Microsoft Office PowerPoint</Application>
  <PresentationFormat>Widescreen</PresentationFormat>
  <Paragraphs>487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3" baseType="lpstr">
      <vt:lpstr>Apple Color Emoji</vt:lpstr>
      <vt:lpstr>Arial</vt:lpstr>
      <vt:lpstr>Calibri</vt:lpstr>
      <vt:lpstr>Cinzel</vt:lpstr>
      <vt:lpstr>Cormorant Garamond</vt:lpstr>
      <vt:lpstr>Crimson Text</vt:lpstr>
      <vt:lpstr>Lora</vt:lpstr>
      <vt:lpstr>Playfair Display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Admin</dc:creator>
  <cp:keywords/>
  <dc:description>generated using python-pptx</dc:description>
  <cp:lastModifiedBy>tusharmathapati470@gmail.com</cp:lastModifiedBy>
  <cp:revision>8</cp:revision>
  <dcterms:created xsi:type="dcterms:W3CDTF">2013-01-27T09:14:16Z</dcterms:created>
  <dcterms:modified xsi:type="dcterms:W3CDTF">2026-06-17T16:32:52Z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{"Label":"1","ContentProducer":"001191110108MA01KP2T5U00000","ProduceID":"32d363acc49cd0b0ebb7ec9b4c02ce52","ReservedCode1":"","ContentPropagator":"001191110108MA01KP2T5U00000","PropagateID":"32d363acc49cd0b0ebb7ec9b4c02ce52","ReservedCode2":""}</vt:lpwstr>
  </property>
</Properties>
</file>